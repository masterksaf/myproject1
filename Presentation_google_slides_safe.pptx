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23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5" name="Text 1"/>
          <p:cNvSpPr/>
          <p:nvPr/>
        </p:nvSpPr>
        <p:spPr>
          <a:xfrm>
            <a:off x="731044" y="1001390"/>
            <a:ext cx="7681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— ЭТАП 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31490" y="1294470"/>
            <a:ext cx="5943600" cy="1585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8"/>
              </a:lnSpc>
              <a:spcAft>
                <a:spcPts val="1215"/>
              </a:spcAft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3900" dirty="0"/>
          </a:p>
        </p:txBody>
      </p:sp>
      <p:sp>
        <p:nvSpPr>
          <p:cNvPr id="7" name="Shape 3"/>
          <p:cNvSpPr/>
          <p:nvPr/>
        </p:nvSpPr>
        <p:spPr>
          <a:xfrm>
            <a:off x="730523" y="3034196"/>
            <a:ext cx="733425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731490" y="3202372"/>
            <a:ext cx="45720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версия нейронной сети · ResNet34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304" y="3714415"/>
            <a:ext cx="30337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304" y="3934681"/>
            <a:ext cx="30337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· Defects Class and Location for Metal Surface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038898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8"/>
          <p:cNvSpPr/>
          <p:nvPr/>
        </p:nvSpPr>
        <p:spPr>
          <a:xfrm>
            <a:off x="4322862" y="3683533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</a:t>
            </a:r>
            <a:r>
              <a:rPr lang="en-US" sz="11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обучения</a:t>
            </a: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22862" y="3923519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Bef>
                <a:spcPts val="162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защиты: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69013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7152122" y="3715234"/>
            <a:ext cx="11668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52122" y="3892637"/>
            <a:ext cx="11668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Калеев Сергей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4495" y="0"/>
            <a:ext cx="383857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370" y="1050168"/>
            <a:ext cx="4010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370" y="1305409"/>
            <a:ext cx="40100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тип дефекта по фото поверхности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640035" y="2433675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640370" y="2551026"/>
            <a:ext cx="4010025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81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классификации изображений. На входе — фото стальной поверхности. На выходе — категория дефекта из 10 классов.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9068" y="3436069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0" name="Text 6"/>
          <p:cNvSpPr/>
          <p:nvPr/>
        </p:nvSpPr>
        <p:spPr>
          <a:xfrm>
            <a:off x="794370" y="3352763"/>
            <a:ext cx="25908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класс дефекта на изображение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9068" y="3700090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2" name="Text 8"/>
          <p:cNvSpPr/>
          <p:nvPr/>
        </p:nvSpPr>
        <p:spPr>
          <a:xfrm>
            <a:off x="795003" y="3616784"/>
            <a:ext cx="269081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метрика качества: Accuracy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9068" y="3964112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4" name="Text 10"/>
          <p:cNvSpPr/>
          <p:nvPr/>
        </p:nvSpPr>
        <p:spPr>
          <a:xfrm>
            <a:off x="794482" y="3880805"/>
            <a:ext cx="24003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Kaggle · zhangyunsheng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17145" y="819113"/>
            <a:ext cx="3486150" cy="3505200"/>
          </a:xfrm>
          <a:prstGeom prst="roundRect">
            <a:avLst>
              <a:gd name="adj" fmla="val 688"/>
            </a:avLst>
          </a:prstGeom>
          <a:solidFill>
            <a:srgbClr val="0F1923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02882" y="1006673"/>
            <a:ext cx="31146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КЛАССОВ ДЕФЕКТОВ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202882" y="124896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Поперечные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02882" y="1541190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punching_hole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Пробоины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202882" y="18334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</a:t>
            </a:r>
            <a:r>
              <a:rPr lang="ru-RU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lang="ru-RU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202882" y="212563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Пятна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воды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02882" y="241786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Масляные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02882" y="271008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Волокнистые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02881" y="30235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Металлические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включения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02882" y="329453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rolled_pit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углубления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02882" y="358675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crescent_gap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Серповидные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зазоры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202882" y="387898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welding_line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Сварные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швы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10" y="271463"/>
            <a:ext cx="6810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Датасет: Defects Class and Location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73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19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2819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изображений всего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8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990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1814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283990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очистки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9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161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485161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дефектов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20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332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4300" dirty="0"/>
          </a:p>
        </p:txBody>
      </p:sp>
      <p:sp>
        <p:nvSpPr>
          <p:cNvPr id="17" name="Text 15"/>
          <p:cNvSpPr/>
          <p:nvPr/>
        </p:nvSpPr>
        <p:spPr>
          <a:xfrm>
            <a:off x="686332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удалено при очистке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9924" y="2373250"/>
            <a:ext cx="4995862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042" y="2506600"/>
            <a:ext cx="46196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81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 выборки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8080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</a:t>
            </a: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080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7447" y="3112368"/>
            <a:ext cx="1014413" cy="42863"/>
          </a:xfrm>
          <a:prstGeom prst="roundRect">
            <a:avLst>
              <a:gd name="adj" fmla="val 266664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2413918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13918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412578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999756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</a:t>
            </a: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99756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98416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8212" y="2373250"/>
            <a:ext cx="2686050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6331" y="2506600"/>
            <a:ext cx="23098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изображений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06331" y="2803401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06331" y="3050158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06331" y="3296915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3712629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задачи классификации были оставлены только single-class изображения.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328" y="271463"/>
            <a:ext cx="12144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 Transfer Learning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Shape 4"/>
          <p:cNvSpPr/>
          <p:nvPr/>
        </p:nvSpPr>
        <p:spPr>
          <a:xfrm>
            <a:off x="639589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2464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2464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2464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и очистка датасета. Разбиение 70/15/15.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01230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3" name="Shape 9"/>
          <p:cNvSpPr/>
          <p:nvPr/>
        </p:nvSpPr>
        <p:spPr>
          <a:xfrm>
            <a:off x="2719834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6270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6270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Предобработка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6270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160x160, нормализация, аугментации.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1475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800079" y="1777268"/>
            <a:ext cx="1624012" cy="1628775"/>
          </a:xfrm>
          <a:prstGeom prst="roundRect">
            <a:avLst>
              <a:gd name="adj" fmla="val 2536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42954" y="1911028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942954" y="2295190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42954" y="2554337"/>
            <a:ext cx="1338262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Предобученный ResNet + новый классификатор на 10 классов.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61720" y="2586856"/>
            <a:ext cx="180975" cy="95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80324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2319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02319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02319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по Accuracy на тестовой выборке.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40556" y="4233044"/>
            <a:ext cx="7862887" cy="652463"/>
          </a:xfrm>
          <a:prstGeom prst="roundRect">
            <a:avLst>
              <a:gd name="adj" fmla="val 15713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2617" y="4456881"/>
            <a:ext cx="38100" cy="204787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29" name="Text 25"/>
          <p:cNvSpPr/>
          <p:nvPr/>
        </p:nvSpPr>
        <p:spPr>
          <a:xfrm>
            <a:off x="1046485" y="4340200"/>
            <a:ext cx="7276876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веса ImageNet для инициализации — модель уже умеет выделять базовые признаки. Модель </a:t>
            </a:r>
            <a:r>
              <a:rPr lang="en-US" sz="11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дообучалась</a:t>
            </a: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 задачу классификации 10 классов.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133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47" y="271463"/>
            <a:ext cx="15906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 — BASELINE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9068" y="477403"/>
            <a:ext cx="23336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Bef>
                <a:spcPts val="324"/>
              </a:spcBef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ResNet18: первый результат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35" y="1579922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933502" y="3259665"/>
            <a:ext cx="1328738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76377" y="3348095"/>
            <a:ext cx="104298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076377" y="3716523"/>
            <a:ext cx="10429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3989" y="3283595"/>
            <a:ext cx="1338262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3258" y="3368860"/>
            <a:ext cx="1052512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13258" y="3746847"/>
            <a:ext cx="10525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9031" y="1931446"/>
            <a:ext cx="2333625" cy="2196143"/>
          </a:xfrm>
          <a:prstGeom prst="roundRect">
            <a:avLst>
              <a:gd name="adj" fmla="val 230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187" y="2106662"/>
            <a:ext cx="19573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Гиперпараметры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187" y="2449674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187" y="2755843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187" y="3078939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3503" y="3402035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3503" y="3732560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83.09%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99433" y="258180"/>
            <a:ext cx="53054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ОБУЧЕНИЯ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403" y="622743"/>
            <a:ext cx="5305425" cy="1992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9031" y="4302805"/>
            <a:ext cx="5305425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baseline-результат, полученный на этапе 4.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333" y="271463"/>
            <a:ext cx="2138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5 — ЭКСПЕРИМЕНТЫ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трёх архитектур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89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8489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Лёгкая базовая модель. 11.2M параметров. Использовалась в этапе 4 как baseline.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8489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8489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8489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89" y="3528789"/>
            <a:ext cx="2119312" cy="804862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28489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28489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9425" y="1106053"/>
            <a:ext cx="2505075" cy="3386138"/>
          </a:xfrm>
          <a:prstGeom prst="roundRect">
            <a:avLst>
              <a:gd name="adj" fmla="val 1332"/>
            </a:avLst>
          </a:prstGeom>
          <a:solidFill>
            <a:srgbClr val="1A2C3D"/>
          </a:solidFill>
          <a:ln w="9525">
            <a:solidFill>
              <a:srgbClr val="E8A1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138" y="1037890"/>
            <a:ext cx="1171575" cy="219075"/>
          </a:xfrm>
          <a:prstGeom prst="roundRect">
            <a:avLst>
              <a:gd name="adj" fmla="val 52174"/>
            </a:avLst>
          </a:prstGeom>
          <a:solidFill>
            <a:srgbClr val="E8A10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12307" y="1268760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2307" y="1592982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глубокая модель. 21.3M параметров. Лучший баланс качества.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12307" y="227268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12307" y="2505745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12307" y="273881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2307" y="3524027"/>
            <a:ext cx="2119312" cy="8048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3512307" y="3630923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3512307" y="4137868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08005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6124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6124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мобильная модель. 1.5M параметров. Оптимизирована под скорость.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6124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6124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6124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6124" y="3528789"/>
            <a:ext cx="2119312" cy="804862"/>
          </a:xfrm>
          <a:prstGeom prst="rect">
            <a:avLst/>
          </a:prstGeom>
          <a:ln/>
        </p:spPr>
      </p:sp>
      <p:sp>
        <p:nvSpPr>
          <p:cNvPr id="32" name="Text 30"/>
          <p:cNvSpPr/>
          <p:nvPr/>
        </p:nvSpPr>
        <p:spPr>
          <a:xfrm>
            <a:off x="6196124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196124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4595775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сравнивались в одинаковых условиях коротких экспериментов.</a:t>
            </a:r>
            <a:endParaRPr lang="en-US" sz="9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489" y="3528789"/>
            <a:ext cx="2119312" cy="804862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2307" y="3524027"/>
            <a:ext cx="2119312" cy="804862"/>
          </a:xfrm>
          <a:prstGeom prst="rect">
            <a:avLst/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124" y="3528789"/>
            <a:ext cx="2119312" cy="804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482" y="271463"/>
            <a:ext cx="1019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1003" y="476622"/>
            <a:ext cx="3381375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Bef>
                <a:spcPts val="324"/>
              </a:spcBef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Детальное сравнение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1278322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1003" y="1421309"/>
            <a:ext cx="3381375" cy="1776413"/>
          </a:xfrm>
          <a:prstGeom prst="roundRect">
            <a:avLst>
              <a:gd name="adj" fmla="val 212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765" y="1425401"/>
            <a:ext cx="3371850" cy="51435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780976" y="1487314"/>
            <a:ext cx="15430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2575" y="1487314"/>
            <a:ext cx="7715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94620" y="1487314"/>
            <a:ext cx="7858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5765" y="1938858"/>
            <a:ext cx="3371850" cy="419100"/>
          </a:xfrm>
          <a:prstGeom prst="rect">
            <a:avLst/>
          </a:prstGeom>
          <a:solidFill>
            <a:srgbClr val="E8A1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1162" y="2081733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0196" y="2036452"/>
            <a:ext cx="72866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0983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5857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5765" y="2358405"/>
            <a:ext cx="3371850" cy="419100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781162" y="2501280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08782" y="2455999"/>
            <a:ext cx="6858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0983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69.23%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5857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162" y="2920826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005" y="2875545"/>
            <a:ext cx="9620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0983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25.64%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5857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003" y="3300115"/>
            <a:ext cx="3381375" cy="547687"/>
          </a:xfrm>
          <a:prstGeom prst="roundRect">
            <a:avLst>
              <a:gd name="adj" fmla="val 16725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 показал лучший результат по Accuracy среди протестированных моделей.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154" y="1120929"/>
            <a:ext cx="15811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</a:t>
            </a:r>
            <a:endParaRPr lang="en-US" sz="9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159" y="1425401"/>
            <a:ext cx="4653886" cy="2014537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765" y="1425401"/>
            <a:ext cx="3371850" cy="51435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765" y="1938858"/>
            <a:ext cx="3371850" cy="419100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765" y="2358405"/>
            <a:ext cx="33718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707606" y="888467"/>
            <a:ext cx="17287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17094" y="1142293"/>
            <a:ext cx="230981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607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298156" y="1700473"/>
            <a:ext cx="547687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920255"/>
            <a:ext cx="2505075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9525">
            <a:solidFill>
              <a:srgbClr val="E8A1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251" y="2085268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33251" y="2674702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950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7069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86.8%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3517069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8005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6124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6196124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556" y="3262685"/>
            <a:ext cx="7862887" cy="357188"/>
          </a:xfrm>
          <a:prstGeom prst="roundRect">
            <a:avLst>
              <a:gd name="adj" fmla="val 13107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852" y="3365041"/>
            <a:ext cx="38100" cy="152400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237" y="3346028"/>
            <a:ext cx="47339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Выбрана как финальная модель по результатам сравнения на этапе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1030970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35" y="1285429"/>
            <a:ext cx="4114800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Aft>
                <a:spcPts val="810"/>
              </a:spcAft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ноутбук в действии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2112876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35" y="228175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943" y="234843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6758" y="2360340"/>
            <a:ext cx="18192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Google Drive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35" y="2720355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943" y="2787030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8618" y="2798936"/>
            <a:ext cx="2714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весов resnet34_best_model.pth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35" y="3158951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943" y="3225626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8544" y="3237533"/>
            <a:ext cx="29432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своего изображения через upload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35" y="359754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943" y="366422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8618" y="3676129"/>
            <a:ext cx="26003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класса с уверенностью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556" y="1133475"/>
            <a:ext cx="3290887" cy="2876550"/>
          </a:xfrm>
          <a:prstGeom prst="roundRect">
            <a:avLst>
              <a:gd name="adj" fmla="val 1010"/>
            </a:avLst>
          </a:prstGeom>
          <a:solidFill>
            <a:srgbClr val="0D1B2A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5844" y="1336849"/>
            <a:ext cx="90488" cy="9048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2915" y="1336849"/>
            <a:ext cx="90488" cy="9048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9986" y="1336849"/>
            <a:ext cx="90488" cy="9048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7321" y="1294023"/>
            <a:ext cx="19669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stage5_final_inference_colab.ipynb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5919" y="1574043"/>
            <a:ext cx="2824163" cy="2276475"/>
          </a:xfrm>
          <a:prstGeom prst="roundRect">
            <a:avLst>
              <a:gd name="adj" fmla="val 968"/>
            </a:avLst>
          </a:prstGeom>
          <a:solidFill>
            <a:srgbClr val="0F1923"/>
          </a:solidFill>
          <a:ln/>
        </p:spPr>
      </p:sp>
      <p:sp>
        <p:nvSpPr>
          <p:cNvPr id="24" name="Text 22"/>
          <p:cNvSpPr/>
          <p:nvPr/>
        </p:nvSpPr>
        <p:spPr>
          <a:xfrm>
            <a:off x="5581650" y="167766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Пример вывода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1650" y="1920776"/>
            <a:ext cx="2552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81650" y="2126754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607"/>
              </a:spcAft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img_03_3402618000_00007.jpg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1650" y="239583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81650" y="2588009"/>
            <a:ext cx="25527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581650" y="3076352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1650" y="3267112"/>
            <a:ext cx="25527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96.99%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" name="Text 2"/>
          <p:cNvSpPr/>
          <p:nvPr/>
        </p:nvSpPr>
        <p:spPr>
          <a:xfrm>
            <a:off x="640966" y="643644"/>
            <a:ext cx="42957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966" y="898513"/>
            <a:ext cx="4295775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81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сделано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35" y="1383469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110" y="1568053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553468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Собраны и очищены данные: 1814 изображений, 10 классов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110" y="2095798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2081212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baseline на ResNet18 (Этап 4): accuracy 85.7%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110" y="2623542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" y="2608957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Проведены эксперименты с 3 архитектурами (Этап 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110" y="315128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86458" y="3135064"/>
            <a:ext cx="35147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 ResNet34: accuracy 84.6%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110" y="366359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458" y="3600450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финальный ноутбук для инференса с загрузкой своих изображений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35" y="4192130"/>
            <a:ext cx="4295775" cy="519112"/>
          </a:xfrm>
          <a:prstGeom prst="roundRect">
            <a:avLst>
              <a:gd name="adj" fmla="val 1551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Сложнее распознаются редкие классы и визуально похожие дефекты.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461" y="1156953"/>
            <a:ext cx="3109913" cy="1757363"/>
          </a:xfrm>
          <a:prstGeom prst="roundRect">
            <a:avLst>
              <a:gd name="adj" fmla="val 2166"/>
            </a:avLst>
          </a:prstGeom>
          <a:solidFill>
            <a:srgbClr val="1A2C3D"/>
          </a:solidFill>
          <a:ln w="4763">
            <a:solidFill>
              <a:srgbClr val="E8A10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2580" y="1291196"/>
            <a:ext cx="27336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82580" y="1588554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Папка этапа 5 (Drive)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82469" y="1780059"/>
            <a:ext cx="186213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drive.google.com/drive/...1n4LAA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82580" y="2006687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Ноутбук с экспериментами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1724" y="2198191"/>
            <a:ext cx="20574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colab.research.google.com/...1a4tDS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82580" y="2424819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ноутбук (inference)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83287" y="2616324"/>
            <a:ext cx="2138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colab.research.google.com/...1M7UG4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461" y="2990590"/>
            <a:ext cx="3109913" cy="995362"/>
          </a:xfrm>
          <a:prstGeom prst="roundRect">
            <a:avLst>
              <a:gd name="adj" fmla="val 675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2580" y="3098304"/>
            <a:ext cx="273367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03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82580" y="3467770"/>
            <a:ext cx="27336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618</Words>
  <Application>Microsoft Office PowerPoint</Application>
  <PresentationFormat>Экран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Inter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Михаил Kaleev</cp:lastModifiedBy>
  <cp:revision>4</cp:revision>
  <dcterms:created xsi:type="dcterms:W3CDTF">2026-04-05T15:49:17Z</dcterms:created>
  <dcterms:modified xsi:type="dcterms:W3CDTF">2026-04-05T16:43:30Z</dcterms:modified>
</cp:coreProperties>
</file>