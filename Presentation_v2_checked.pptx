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23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9050" cy="5143500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5" name="Text 1"/>
          <p:cNvSpPr/>
          <p:nvPr/>
        </p:nvSpPr>
        <p:spPr>
          <a:xfrm>
            <a:off x="731044" y="1001390"/>
            <a:ext cx="76819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 — ЭТАП 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731490" y="1294470"/>
            <a:ext cx="5943600" cy="1585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8"/>
              </a:lnSpc>
              <a:spcAft>
                <a:spcPts val="1215"/>
              </a:spcAft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дефектов на поверхности стали</a:t>
            </a:r>
            <a:endParaRPr lang="en-US" sz="3900" dirty="0"/>
          </a:p>
        </p:txBody>
      </p:sp>
      <p:sp>
        <p:nvSpPr>
          <p:cNvPr id="7" name="Shape 3"/>
          <p:cNvSpPr/>
          <p:nvPr/>
        </p:nvSpPr>
        <p:spPr>
          <a:xfrm>
            <a:off x="730523" y="3034196"/>
            <a:ext cx="733425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Text 4"/>
          <p:cNvSpPr/>
          <p:nvPr/>
        </p:nvSpPr>
        <p:spPr>
          <a:xfrm>
            <a:off x="731490" y="3202372"/>
            <a:ext cx="45720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версия нейронной сети · ResNet18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304" y="3714415"/>
            <a:ext cx="30337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№9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304" y="3934681"/>
            <a:ext cx="30337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· Defects Class and Location for Metal Surface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038898" y="3810670"/>
            <a:ext cx="9525" cy="20478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8"/>
          <p:cNvSpPr/>
          <p:nvPr/>
        </p:nvSpPr>
        <p:spPr>
          <a:xfrm>
            <a:off x="4322862" y="3683533"/>
            <a:ext cx="22717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</a:t>
            </a:r>
            <a:r>
              <a:rPr lang="en-US" sz="11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обучения</a:t>
            </a: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b="1" dirty="0" err="1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ноябрь</a:t>
            </a: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322862" y="3923519"/>
            <a:ext cx="22717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Bef>
                <a:spcPts val="162"/>
              </a:spcBef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защиты: </a:t>
            </a:r>
            <a:r>
              <a:rPr lang="en-US" sz="1100" b="1" dirty="0" err="1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апрель</a:t>
            </a: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69013" y="3810670"/>
            <a:ext cx="9525" cy="204787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1"/>
          <p:cNvSpPr/>
          <p:nvPr/>
        </p:nvSpPr>
        <p:spPr>
          <a:xfrm>
            <a:off x="7152122" y="3715234"/>
            <a:ext cx="11668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152122" y="3892637"/>
            <a:ext cx="11668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Калеев Сергей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4495" y="0"/>
            <a:ext cx="383857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370" y="1050168"/>
            <a:ext cx="4010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370" y="1305409"/>
            <a:ext cx="4010025" cy="1023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93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 тип дефекта по фото поверхности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640035" y="2433675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Text 4"/>
          <p:cNvSpPr/>
          <p:nvPr/>
        </p:nvSpPr>
        <p:spPr>
          <a:xfrm>
            <a:off x="640370" y="2551026"/>
            <a:ext cx="4010025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81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классификации изображений. На входе — фото стальной поверхности. На выходе — категория дефекта из 10 классов.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9068" y="3436069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0" name="Text 6"/>
          <p:cNvSpPr/>
          <p:nvPr/>
        </p:nvSpPr>
        <p:spPr>
          <a:xfrm>
            <a:off x="794370" y="3352763"/>
            <a:ext cx="25908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класс дефекта на изображение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9068" y="3700090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2" name="Text 8"/>
          <p:cNvSpPr/>
          <p:nvPr/>
        </p:nvSpPr>
        <p:spPr>
          <a:xfrm>
            <a:off x="795003" y="3616784"/>
            <a:ext cx="269081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метрика качества: Accuracy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9068" y="3964112"/>
            <a:ext cx="47625" cy="47625"/>
          </a:xfrm>
          <a:prstGeom prst="ellipse">
            <a:avLst/>
          </a:prstGeom>
          <a:solidFill>
            <a:srgbClr val="E8A100"/>
          </a:solidFill>
          <a:ln/>
        </p:spPr>
      </p:sp>
      <p:sp>
        <p:nvSpPr>
          <p:cNvPr id="14" name="Text 10"/>
          <p:cNvSpPr/>
          <p:nvPr/>
        </p:nvSpPr>
        <p:spPr>
          <a:xfrm>
            <a:off x="794482" y="3880805"/>
            <a:ext cx="24003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Kaggle · zhangyunsheng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17145" y="819113"/>
            <a:ext cx="3486150" cy="3505200"/>
          </a:xfrm>
          <a:prstGeom prst="roundRect">
            <a:avLst>
              <a:gd name="adj" fmla="val 688"/>
            </a:avLst>
          </a:prstGeom>
          <a:solidFill>
            <a:srgbClr val="0F1923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02882" y="1006673"/>
            <a:ext cx="31146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КЛАССОВ ДЕФЕКТОВ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202882" y="1248966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waist_folding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Поперечные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складки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202882" y="1541190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punching_hole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Пробоины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202882" y="183341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Crease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</a:t>
            </a:r>
            <a:r>
              <a:rPr lang="ru-RU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</a:t>
            </a:r>
            <a:r>
              <a:rPr lang="ru-RU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ольные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складки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202882" y="2125638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Пятна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 воды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202882" y="2417862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Масляные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пятна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202882" y="2710086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silk_spot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Волокнистые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пятна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02881" y="302351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Металлические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включения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202882" y="3294534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rolled_pit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Прокатные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углубления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202882" y="3586758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3B82F6">
              <a:alpha val="10000"/>
            </a:srgbClr>
          </a:solidFill>
          <a:ln w="4763">
            <a:solidFill>
              <a:srgbClr val="3B82F6">
                <a:alpha val="25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crescent_gap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Серповидные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зазоры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202882" y="3878982"/>
            <a:ext cx="3114675" cy="257175"/>
          </a:xfrm>
          <a:prstGeom prst="roundRect">
            <a:avLst>
              <a:gd name="adj" fmla="val 12642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58"/>
              </a:lnSpc>
              <a:buNone/>
            </a:pPr>
            <a:r>
              <a:rPr lang="en-US" sz="9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welding_line</a:t>
            </a:r>
            <a:r>
              <a:rPr lang="ru-RU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</a:t>
            </a:r>
            <a:r>
              <a:rPr lang="en-US" sz="900" b="1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Сварные</a:t>
            </a: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швы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110" y="271463"/>
            <a:ext cx="6810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Датасет: Defects Class and Location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73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19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2280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82819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изображений всего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8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990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1814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283990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очистки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9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161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485161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 дефектов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202" y="1104863"/>
            <a:ext cx="1828800" cy="1114425"/>
          </a:xfrm>
          <a:prstGeom prst="roundRect">
            <a:avLst>
              <a:gd name="adj" fmla="val 5386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3321" y="1264853"/>
            <a:ext cx="145256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</a:t>
            </a:r>
            <a:endParaRPr lang="en-US" sz="4300" dirty="0"/>
          </a:p>
        </p:txBody>
      </p:sp>
      <p:sp>
        <p:nvSpPr>
          <p:cNvPr id="17" name="Text 15"/>
          <p:cNvSpPr/>
          <p:nvPr/>
        </p:nvSpPr>
        <p:spPr>
          <a:xfrm>
            <a:off x="6863321" y="1854547"/>
            <a:ext cx="14525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удалено при очистке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9924" y="2373250"/>
            <a:ext cx="4995862" cy="1262063"/>
          </a:xfrm>
          <a:prstGeom prst="roundRect">
            <a:avLst>
              <a:gd name="adj" fmla="val 420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042" y="2506600"/>
            <a:ext cx="46196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810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на выборки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8080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</a:t>
            </a: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8080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827447" y="3112368"/>
            <a:ext cx="1014413" cy="42863"/>
          </a:xfrm>
          <a:prstGeom prst="roundRect">
            <a:avLst>
              <a:gd name="adj" fmla="val 266664"/>
            </a:avLst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2413918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</a:t>
            </a: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13918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412578" y="3112368"/>
            <a:ext cx="219075" cy="42863"/>
          </a:xfrm>
          <a:prstGeom prst="roundRect">
            <a:avLst>
              <a:gd name="adj" fmla="val 266664"/>
            </a:avLst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3999756" y="2828590"/>
            <a:ext cx="1447800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</a:t>
            </a: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99756" y="3112368"/>
            <a:ext cx="1447800" cy="42863"/>
          </a:xfrm>
          <a:prstGeom prst="roundRect">
            <a:avLst>
              <a:gd name="adj" fmla="val 266664"/>
            </a:avLst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3998416" y="3112368"/>
            <a:ext cx="219075" cy="42863"/>
          </a:xfrm>
          <a:prstGeom prst="roundRect">
            <a:avLst>
              <a:gd name="adj" fmla="val 266664"/>
            </a:avLst>
          </a:prstGeom>
          <a:solidFill>
            <a:srgbClr val="F97316"/>
          </a:solidFill>
          <a:ln/>
        </p:spPr>
      </p:sp>
      <p:sp>
        <p:nvSpPr>
          <p:cNvPr id="29" name="Shape 27"/>
          <p:cNvSpPr/>
          <p:nvPr/>
        </p:nvSpPr>
        <p:spPr>
          <a:xfrm>
            <a:off x="5818212" y="2373250"/>
            <a:ext cx="2686050" cy="1262063"/>
          </a:xfrm>
          <a:prstGeom prst="roundRect">
            <a:avLst>
              <a:gd name="adj" fmla="val 420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6331" y="2506600"/>
            <a:ext cx="23098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изображений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06331" y="2803401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× 160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06331" y="3050158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06331" y="3296915"/>
            <a:ext cx="2309813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seed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556" y="3712629"/>
            <a:ext cx="7862887" cy="290513"/>
          </a:xfrm>
          <a:prstGeom prst="roundRect">
            <a:avLst>
              <a:gd name="adj" fmla="val 1238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задачи классификации были оставлены только single-class изображения.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9328" y="271463"/>
            <a:ext cx="121443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МЕТОДОЛОГИЯ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Подход: Transfer Learning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8" name="Shape 4"/>
          <p:cNvSpPr/>
          <p:nvPr/>
        </p:nvSpPr>
        <p:spPr>
          <a:xfrm>
            <a:off x="639589" y="1777268"/>
            <a:ext cx="1624012" cy="1628775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2464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2464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82464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и очистка датасета. Разбиение 70/15/15.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01230" y="2586856"/>
            <a:ext cx="180975" cy="9525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13" name="Shape 9"/>
          <p:cNvSpPr/>
          <p:nvPr/>
        </p:nvSpPr>
        <p:spPr>
          <a:xfrm>
            <a:off x="2719834" y="1777268"/>
            <a:ext cx="1624012" cy="1628775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862709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862709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Предобработка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62709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160x160, нормализация, аугментации.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81475" y="2586856"/>
            <a:ext cx="180975" cy="9525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800079" y="1777268"/>
            <a:ext cx="1624012" cy="1628775"/>
          </a:xfrm>
          <a:prstGeom prst="roundRect">
            <a:avLst>
              <a:gd name="adj" fmla="val 2536"/>
            </a:avLst>
          </a:prstGeom>
          <a:solidFill>
            <a:srgbClr val="1A2C3D"/>
          </a:solidFill>
          <a:ln w="4763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42954" y="1911028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942954" y="2295190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42954" y="2554337"/>
            <a:ext cx="1338262" cy="719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Предобученный ResNet + новый классификатор на 10 классов.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561720" y="2586856"/>
            <a:ext cx="180975" cy="95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9"/>
          <p:cNvSpPr/>
          <p:nvPr/>
        </p:nvSpPr>
        <p:spPr>
          <a:xfrm>
            <a:off x="6880324" y="1777268"/>
            <a:ext cx="1624012" cy="1628775"/>
          </a:xfrm>
          <a:prstGeom prst="roundRect">
            <a:avLst>
              <a:gd name="adj" fmla="val 3191"/>
            </a:avLst>
          </a:prstGeom>
          <a:solidFill>
            <a:srgbClr val="1A2C3D"/>
          </a:solidFill>
          <a:ln w="4763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23199" y="2000622"/>
            <a:ext cx="1338262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24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7023199" y="2384785"/>
            <a:ext cx="133826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324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023199" y="2644825"/>
            <a:ext cx="1338262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11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качества по Accuracy на тестовой выборке.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40556" y="4233044"/>
            <a:ext cx="7862887" cy="652463"/>
          </a:xfrm>
          <a:prstGeom prst="roundRect">
            <a:avLst>
              <a:gd name="adj" fmla="val 15713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72617" y="4456881"/>
            <a:ext cx="38100" cy="204787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29" name="Text 25"/>
          <p:cNvSpPr/>
          <p:nvPr/>
        </p:nvSpPr>
        <p:spPr>
          <a:xfrm>
            <a:off x="1046485" y="4340200"/>
            <a:ext cx="7276876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 веса ImageNet для инициализации — модель уже умеет выделять базовые признаки. Модель </a:t>
            </a:r>
            <a:r>
              <a:rPr lang="en-US" sz="1100" dirty="0" err="1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дообучалась</a:t>
            </a: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 задачу классификации 10 классов.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133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147" y="271463"/>
            <a:ext cx="15906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4 — BASELINE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9068" y="477403"/>
            <a:ext cx="2333625" cy="1023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93"/>
              </a:lnSpc>
              <a:spcBef>
                <a:spcPts val="324"/>
              </a:spcBef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ResNet18: первый результат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35" y="1579922"/>
            <a:ext cx="457200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933502" y="3259665"/>
            <a:ext cx="1328738" cy="781050"/>
          </a:xfrm>
          <a:prstGeom prst="roundRect">
            <a:avLst>
              <a:gd name="adj" fmla="val 10965"/>
            </a:avLst>
          </a:prstGeom>
          <a:solidFill>
            <a:srgbClr val="1A2C3D"/>
          </a:solidFill>
          <a:ln w="4763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76377" y="3348095"/>
            <a:ext cx="1042988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6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076377" y="3716523"/>
            <a:ext cx="104298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33989" y="3283595"/>
            <a:ext cx="1338262" cy="781050"/>
          </a:xfrm>
          <a:prstGeom prst="roundRect">
            <a:avLst>
              <a:gd name="adj" fmla="val 10965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3258" y="3368860"/>
            <a:ext cx="1052512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6"/>
              </a:lnSpc>
              <a:buNone/>
            </a:pPr>
            <a:r>
              <a:rPr lang="en-US" sz="27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95.4%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713258" y="3746847"/>
            <a:ext cx="10525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9031" y="1931446"/>
            <a:ext cx="2333625" cy="2196143"/>
          </a:xfrm>
          <a:prstGeom prst="roundRect">
            <a:avLst>
              <a:gd name="adj" fmla="val 230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187" y="2106662"/>
            <a:ext cx="19573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Гиперпараметры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187" y="2449674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× 160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7187" y="2755843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187" y="3078939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3503" y="3402035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3503" y="3732560"/>
            <a:ext cx="1957388" cy="20478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Accuracy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83.09%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99433" y="258180"/>
            <a:ext cx="53054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ОБУЧЕНИЯ</a:t>
            </a:r>
            <a:endParaRPr lang="en-US" sz="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403" y="622743"/>
            <a:ext cx="5305425" cy="1992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9031" y="4302805"/>
            <a:ext cx="5305425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baseline-результат, полученный на этапе 4.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333" y="271463"/>
            <a:ext cx="21383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5 — ЭКСПЕРИМЕНТЫ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556" y="477031"/>
            <a:ext cx="7862887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Bef>
                <a:spcPts val="324"/>
              </a:spcBef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трёх архитектур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35" y="936241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370" y="1106053"/>
            <a:ext cx="2495550" cy="3386138"/>
          </a:xfrm>
          <a:prstGeom prst="roundRect">
            <a:avLst>
              <a:gd name="adj" fmla="val 134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489" y="1263997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8489" y="1588219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глубокая residual-сеть. На тесте уступила ResNet18.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8489" y="226791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 256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8489" y="2500982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20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8489" y="273404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21.3M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8489" y="3528789"/>
            <a:ext cx="2119312" cy="804862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28489" y="3635685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28489" y="4142631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9425" y="1106053"/>
            <a:ext cx="2505075" cy="3386138"/>
          </a:xfrm>
          <a:prstGeom prst="roundRect">
            <a:avLst>
              <a:gd name="adj" fmla="val 1332"/>
            </a:avLst>
          </a:prstGeom>
          <a:solidFill>
            <a:srgbClr val="1A2C3D"/>
          </a:solidFill>
          <a:ln w="9525">
            <a:solidFill>
              <a:srgbClr val="E8A10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138" y="1037890"/>
            <a:ext cx="1171575" cy="219075"/>
          </a:xfrm>
          <a:prstGeom prst="roundRect">
            <a:avLst>
              <a:gd name="adj" fmla="val 52174"/>
            </a:avLst>
          </a:prstGeom>
          <a:solidFill>
            <a:srgbClr val="E8A10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0F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ПОБЕДИТЕЛЬ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12307" y="1268760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2307" y="1592982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Baseline-модель. В обновлённом сравнении показала лучший результат.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12307" y="2272680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 256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12307" y="2505745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12307" y="2738810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11.2M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12307" y="3524027"/>
            <a:ext cx="2119312" cy="804862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3512307" y="3630923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89.7%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3512307" y="4137868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08005" y="1106053"/>
            <a:ext cx="2495550" cy="3386138"/>
          </a:xfrm>
          <a:prstGeom prst="roundRect">
            <a:avLst>
              <a:gd name="adj" fmla="val 134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6124" y="1263997"/>
            <a:ext cx="21193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6124" y="1588219"/>
            <a:ext cx="2119312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81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Компактная мобильная модель. Сильно уступила ResNet по Accuracy.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6124" y="226791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6124" y="2500982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20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6124" y="2734047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r>
              <a:rPr lang="ru-RU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6124" y="3528789"/>
            <a:ext cx="2119312" cy="804862"/>
          </a:xfrm>
          <a:prstGeom prst="rect">
            <a:avLst/>
          </a:prstGeom>
          <a:ln/>
        </p:spPr>
      </p:sp>
      <p:sp>
        <p:nvSpPr>
          <p:cNvPr id="32" name="Text 30"/>
          <p:cNvSpPr/>
          <p:nvPr/>
        </p:nvSpPr>
        <p:spPr>
          <a:xfrm>
            <a:off x="6196124" y="3635685"/>
            <a:ext cx="2119312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49.1%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6196124" y="4142631"/>
            <a:ext cx="21193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556" y="4595775"/>
            <a:ext cx="7862887" cy="290513"/>
          </a:xfrm>
          <a:prstGeom prst="roundRect">
            <a:avLst>
              <a:gd name="adj" fmla="val 1238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сравнивались при image size 160×160, batch size 256 и 20 эпохах.</a:t>
            </a:r>
            <a:endParaRPr lang="en-US" sz="9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489" y="3528789"/>
            <a:ext cx="2119312" cy="804862"/>
          </a:xfrm>
          <a:prstGeom prst="rect">
            <a:avLst/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2307" y="3524027"/>
            <a:ext cx="2119312" cy="804862"/>
          </a:xfrm>
          <a:prstGeom prst="rect">
            <a:avLst/>
          </a:prstGeom>
        </p:spPr>
      </p:pic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6124" y="3528789"/>
            <a:ext cx="2119312" cy="804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482" y="271463"/>
            <a:ext cx="10191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1003" y="476622"/>
            <a:ext cx="3381375" cy="723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1"/>
              </a:lnSpc>
              <a:spcBef>
                <a:spcPts val="324"/>
              </a:spcBef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Детальное сравнение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35" y="1278322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1003" y="1421309"/>
            <a:ext cx="3381375" cy="1776413"/>
          </a:xfrm>
          <a:prstGeom prst="roundRect">
            <a:avLst>
              <a:gd name="adj" fmla="val 2120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5765" y="1425401"/>
            <a:ext cx="3371850" cy="51435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8" name="Text 6"/>
          <p:cNvSpPr/>
          <p:nvPr/>
        </p:nvSpPr>
        <p:spPr>
          <a:xfrm>
            <a:off x="780976" y="1487314"/>
            <a:ext cx="15430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22575" y="1487314"/>
            <a:ext cx="77152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94620" y="1487314"/>
            <a:ext cx="785813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5765" y="1938858"/>
            <a:ext cx="3371850" cy="419100"/>
          </a:xfrm>
          <a:prstGeom prst="rect">
            <a:avLst/>
          </a:prstGeom>
          <a:solidFill>
            <a:srgbClr val="E8A100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1162" y="2081733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0196" y="2036452"/>
            <a:ext cx="72866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0983" y="2015058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89.74%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5857" y="2015058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5765" y="2358405"/>
            <a:ext cx="3371850" cy="419100"/>
          </a:xfrm>
          <a:prstGeom prst="rect">
            <a:avLst/>
          </a:prstGeom>
          <a:ln/>
        </p:spPr>
      </p:sp>
      <p:sp>
        <p:nvSpPr>
          <p:cNvPr id="17" name="Shape 15"/>
          <p:cNvSpPr/>
          <p:nvPr/>
        </p:nvSpPr>
        <p:spPr>
          <a:xfrm>
            <a:off x="781162" y="2501280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908782" y="2455999"/>
            <a:ext cx="685800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ResNet34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0983" y="2434605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85.71%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5857" y="2434605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162" y="2920826"/>
            <a:ext cx="38100" cy="128588"/>
          </a:xfrm>
          <a:prstGeom prst="roundRect">
            <a:avLst>
              <a:gd name="adj" fmla="val 288000"/>
            </a:avLst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909005" y="2875545"/>
            <a:ext cx="9620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0983" y="2854151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49.08%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05857" y="2854151"/>
            <a:ext cx="77628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003" y="3300115"/>
            <a:ext cx="3381375" cy="547687"/>
          </a:xfrm>
          <a:prstGeom prst="roundRect">
            <a:avLst>
              <a:gd name="adj" fmla="val 16725"/>
            </a:avLst>
          </a:prstGeom>
          <a:solidFill>
            <a:srgbClr val="E8A100">
              <a:alpha val="8000"/>
            </a:srgbClr>
          </a:solidFill>
          <a:ln w="4763">
            <a:solidFill>
              <a:srgbClr val="E8A100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 показал лучший результат по Accuracy среди протестированных моделей.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154" y="1120929"/>
            <a:ext cx="15811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МОДЕЛЕЙ</a:t>
            </a:r>
            <a:endParaRPr lang="en-US" sz="9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765" y="1425401"/>
            <a:ext cx="3371850" cy="51435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765" y="1938858"/>
            <a:ext cx="3371850" cy="419100"/>
          </a:xfrm>
          <a:prstGeom prst="rect">
            <a:avLst/>
          </a:prstGeom>
        </p:spPr>
      </p:pic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765" y="2358405"/>
            <a:ext cx="3371850" cy="419100"/>
          </a:xfrm>
          <a:prstGeom prst="rect">
            <a:avLst/>
          </a:prstGeom>
        </p:spPr>
      </p:pic>
      <p:pic>
        <p:nvPicPr>
          <p:cNvPr id="31" name="Picture 30" descr="presentation_v2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159" y="1425401"/>
            <a:ext cx="4653886" cy="2014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707606" y="888467"/>
            <a:ext cx="17287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МОДЕЛЬ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17094" y="1142293"/>
            <a:ext cx="2309813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Aft>
                <a:spcPts val="607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298156" y="1700473"/>
            <a:ext cx="547687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370" y="1920255"/>
            <a:ext cx="2505075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9525">
            <a:solidFill>
              <a:srgbClr val="E8A10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3251" y="2085268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89.7%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833251" y="2674702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8950" y="1920255"/>
            <a:ext cx="2495550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7069" y="2080506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88.2%</a:t>
            </a:r>
            <a:endParaRPr lang="en-US" sz="4300" dirty="0"/>
          </a:p>
        </p:txBody>
      </p:sp>
      <p:sp>
        <p:nvSpPr>
          <p:cNvPr id="11" name="Text 9"/>
          <p:cNvSpPr/>
          <p:nvPr/>
        </p:nvSpPr>
        <p:spPr>
          <a:xfrm>
            <a:off x="3517069" y="2669939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08005" y="1920255"/>
            <a:ext cx="2495550" cy="1138237"/>
          </a:xfrm>
          <a:prstGeom prst="roundRect">
            <a:avLst>
              <a:gd name="adj" fmla="val 516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6124" y="2080506"/>
            <a:ext cx="2119312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6196124" y="2669939"/>
            <a:ext cx="2119312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324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556" y="3262685"/>
            <a:ext cx="7862887" cy="357188"/>
          </a:xfrm>
          <a:prstGeom prst="roundRect">
            <a:avLst>
              <a:gd name="adj" fmla="val 13107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852" y="3365041"/>
            <a:ext cx="38100" cy="152400"/>
          </a:xfrm>
          <a:prstGeom prst="roundRect">
            <a:avLst>
              <a:gd name="adj" fmla="val 288000"/>
            </a:avLst>
          </a:prstGeom>
          <a:solidFill>
            <a:srgbClr val="E8A1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0237" y="3346028"/>
            <a:ext cx="7000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модель по обновлённому сравнению, 20 эпох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1030970"/>
            <a:ext cx="41148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35" y="1285429"/>
            <a:ext cx="4114800" cy="723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1"/>
              </a:lnSpc>
              <a:spcAft>
                <a:spcPts val="810"/>
              </a:spcAft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ноутбук в действии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35" y="2112876"/>
            <a:ext cx="457200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35" y="2281758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943" y="2348433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6758" y="2360340"/>
            <a:ext cx="18192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Google Drive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35" y="2720355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943" y="2787030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8618" y="2798936"/>
            <a:ext cx="27146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весов финальной модели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35" y="3158951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943" y="3225626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8544" y="3237533"/>
            <a:ext cx="29432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своего изображения через upload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35" y="3597548"/>
            <a:ext cx="4114800" cy="361950"/>
          </a:xfrm>
          <a:prstGeom prst="roundRect">
            <a:avLst>
              <a:gd name="adj" fmla="val 9573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943" y="3664223"/>
            <a:ext cx="228600" cy="228600"/>
          </a:xfrm>
          <a:prstGeom prst="ellipse">
            <a:avLst/>
          </a:prstGeom>
          <a:solidFill>
            <a:srgbClr val="3B82F6">
              <a:alpha val="20000"/>
            </a:srgbClr>
          </a:solidFill>
          <a:ln w="4763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8618" y="3676129"/>
            <a:ext cx="26003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Предсказание класса с уверенностью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556" y="1133475"/>
            <a:ext cx="3290887" cy="2876550"/>
          </a:xfrm>
          <a:prstGeom prst="roundRect">
            <a:avLst>
              <a:gd name="adj" fmla="val 1010"/>
            </a:avLst>
          </a:prstGeom>
          <a:solidFill>
            <a:srgbClr val="0D1B2A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5844" y="1336849"/>
            <a:ext cx="90488" cy="9048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582915" y="1336849"/>
            <a:ext cx="90488" cy="9048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9986" y="1336849"/>
            <a:ext cx="90488" cy="9048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7321" y="1294023"/>
            <a:ext cx="196691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stage5_final_inference_colab.ipynb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5919" y="1574043"/>
            <a:ext cx="2824163" cy="2276475"/>
          </a:xfrm>
          <a:prstGeom prst="roundRect">
            <a:avLst>
              <a:gd name="adj" fmla="val 968"/>
            </a:avLst>
          </a:prstGeom>
          <a:solidFill>
            <a:srgbClr val="0F1923"/>
          </a:solidFill>
          <a:ln/>
        </p:spPr>
      </p:sp>
      <p:sp>
        <p:nvSpPr>
          <p:cNvPr id="24" name="Text 22"/>
          <p:cNvSpPr/>
          <p:nvPr/>
        </p:nvSpPr>
        <p:spPr>
          <a:xfrm>
            <a:off x="5581650" y="1677665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Пример вывода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81650" y="1920776"/>
            <a:ext cx="25527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path: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81650" y="2126754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607"/>
              </a:spcAft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img_03_3402618000_00007.jpg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81650" y="2395835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81650" y="2588009"/>
            <a:ext cx="25527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spcAft>
                <a:spcPts val="607"/>
              </a:spcAft>
              <a:buNone/>
            </a:pPr>
            <a:r>
              <a:rPr lang="en-US" sz="2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waist_folding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581650" y="3076352"/>
            <a:ext cx="25527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81650" y="3267112"/>
            <a:ext cx="25527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96.99%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9050" cy="5143500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4" name="Text 2"/>
          <p:cNvSpPr/>
          <p:nvPr/>
        </p:nvSpPr>
        <p:spPr>
          <a:xfrm>
            <a:off x="640966" y="643644"/>
            <a:ext cx="42957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607"/>
              </a:spcAft>
              <a:buNone/>
            </a:pPr>
            <a:r>
              <a:rPr lang="en-US" sz="900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966" y="898513"/>
            <a:ext cx="4295775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Aft>
                <a:spcPts val="810"/>
              </a:spcAft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сделано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35" y="1383469"/>
            <a:ext cx="457200" cy="1428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7" name="Shape 5"/>
          <p:cNvSpPr/>
          <p:nvPr/>
        </p:nvSpPr>
        <p:spPr>
          <a:xfrm>
            <a:off x="640110" y="1568053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8" name="Text 6"/>
          <p:cNvSpPr/>
          <p:nvPr/>
        </p:nvSpPr>
        <p:spPr>
          <a:xfrm>
            <a:off x="885825" y="1553468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Собраны и очищены данные: 1814 изображений, 10 классов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110" y="2095798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0" name="Text 8"/>
          <p:cNvSpPr/>
          <p:nvPr/>
        </p:nvSpPr>
        <p:spPr>
          <a:xfrm>
            <a:off x="885825" y="2081212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 baseline на ResNet18 (Этап 4): accuracy 85.7%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110" y="2623542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885825" y="2608957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Проведено обновлённое сравнение 3 архитектур (Этап 5, 20 эпох)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110" y="3151287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86458" y="3135064"/>
            <a:ext cx="35147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модель ResNet18: accuracy 89.7%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110" y="3663597"/>
            <a:ext cx="109537" cy="109537"/>
          </a:xfrm>
          <a:prstGeom prst="roundRect">
            <a:avLst>
              <a:gd name="adj" fmla="val 34843"/>
            </a:avLst>
          </a:prstGeom>
          <a:solidFill>
            <a:srgbClr val="E8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86458" y="3600450"/>
            <a:ext cx="4052887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4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Подготовлен ноутбук для инференса с загрузкой своих изображений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35" y="4192130"/>
            <a:ext cx="4295775" cy="519112"/>
          </a:xfrm>
          <a:prstGeom prst="roundRect">
            <a:avLst>
              <a:gd name="adj" fmla="val 15514"/>
            </a:avLst>
          </a:prstGeom>
          <a:solidFill>
            <a:srgbClr val="3B82F6">
              <a:alpha val="7000"/>
            </a:srgbClr>
          </a:solidFill>
          <a:ln w="4763">
            <a:solidFill>
              <a:srgbClr val="3B82F6">
                <a:alpha val="2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Текущие ограничения: редкие классы и визуально похожие дефекты.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461" y="1156953"/>
            <a:ext cx="3109913" cy="2183047"/>
          </a:xfrm>
          <a:prstGeom prst="roundRect">
            <a:avLst>
              <a:gd name="adj" fmla="val 2166"/>
            </a:avLst>
          </a:prstGeom>
          <a:solidFill>
            <a:srgbClr val="1A2C3D"/>
          </a:solidFill>
          <a:ln w="4763">
            <a:solidFill>
              <a:srgbClr val="E8A100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2580" y="1291196"/>
            <a:ext cx="27336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Дальнейшая работа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461" y="3400000"/>
            <a:ext cx="3109913" cy="995362"/>
          </a:xfrm>
          <a:prstGeom prst="roundRect">
            <a:avLst>
              <a:gd name="adj" fmla="val 6751"/>
            </a:avLst>
          </a:prstGeom>
          <a:solidFill>
            <a:srgbClr val="1A2C3D"/>
          </a:solidFill>
          <a:ln w="4763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2580" y="3520000"/>
            <a:ext cx="273367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03"/>
              </a:spcAft>
              <a:buNone/>
            </a:pPr>
            <a:r>
              <a:rPr lang="en-US" sz="1800" b="1" dirty="0">
                <a:solidFill>
                  <a:srgbClr val="E8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№9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82580" y="3890000"/>
            <a:ext cx="273367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дефектов на поверхности стали</a:t>
            </a:r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5582580" y="1588554"/>
            <a:ext cx="2733675" cy="176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</a:rPr>
              <a:t>Балансировка классов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2580" y="1785000"/>
            <a:ext cx="25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Улучшить качество на редких дефектах.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2580" y="2120000"/>
            <a:ext cx="2733675" cy="176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</a:rPr>
              <a:t>Аугментации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2580" y="2315000"/>
            <a:ext cx="25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Сделать модель устойчивее к вариативности изображений.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2580" y="2725000"/>
            <a:ext cx="2733675" cy="176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</a:rPr>
              <a:t>Новые архитектуры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2580" y="2920000"/>
            <a:ext cx="25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</a:rPr>
              <a:t>Сравнить более сильные CNN и доработать inference-пайплайн.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Arial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598</Words>
  <Application>Microsoft Office PowerPoint</Application>
  <PresentationFormat>Экран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family k</cp:lastModifiedBy>
  <cp:revision>6</cp:revision>
  <dcterms:created xsi:type="dcterms:W3CDTF">2026-04-05T15:49:17Z</dcterms:created>
  <dcterms:modified xsi:type="dcterms:W3CDTF">2026-04-16T10:53:08Z</dcterms:modified>
</cp:coreProperties>
</file>