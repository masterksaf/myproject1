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2239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19050" cy="5143500"/>
          </a:xfrm>
          <a:prstGeom prst="rect">
            <a:avLst/>
          </a:prstGeom>
          <a:solidFill>
            <a:srgbClr val="E8A100"/>
          </a:solidFill>
          <a:ln/>
        </p:spPr>
      </p:sp>
      <p:sp>
        <p:nvSpPr>
          <p:cNvPr id="5" name="Text 1"/>
          <p:cNvSpPr/>
          <p:nvPr/>
        </p:nvSpPr>
        <p:spPr>
          <a:xfrm>
            <a:off x="731044" y="1001390"/>
            <a:ext cx="7681912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MACHINE LEARNING — ЭТАП 5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731490" y="1294470"/>
            <a:ext cx="5943600" cy="15859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58"/>
              </a:lnSpc>
              <a:spcAft>
                <a:spcPts val="1215"/>
              </a:spcAft>
              <a:buNone/>
            </a:pPr>
            <a:r>
              <a:rPr lang="en-US" sz="3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Классификация дефектов на поверхности стали</a:t>
            </a:r>
            <a:endParaRPr lang="en-US" sz="3900" dirty="0"/>
          </a:p>
        </p:txBody>
      </p:sp>
      <p:sp>
        <p:nvSpPr>
          <p:cNvPr id="7" name="Shape 3"/>
          <p:cNvSpPr/>
          <p:nvPr/>
        </p:nvSpPr>
        <p:spPr>
          <a:xfrm>
            <a:off x="730523" y="3034196"/>
            <a:ext cx="733425" cy="14288"/>
          </a:xfrm>
          <a:prstGeom prst="rect">
            <a:avLst/>
          </a:prstGeom>
          <a:solidFill>
            <a:srgbClr val="E8A100"/>
          </a:solidFill>
          <a:ln/>
        </p:spPr>
      </p:sp>
      <p:sp>
        <p:nvSpPr>
          <p:cNvPr id="8" name="Text 4"/>
          <p:cNvSpPr/>
          <p:nvPr/>
        </p:nvSpPr>
        <p:spPr>
          <a:xfrm>
            <a:off x="731490" y="3202372"/>
            <a:ext cx="4572000" cy="2762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Финальная версия нейронной сети · ResNet34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31304" y="3714415"/>
            <a:ext cx="3033712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№9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731304" y="3934681"/>
            <a:ext cx="3033712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 · Defects Class and Location for Metal Surface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4038898" y="3810670"/>
            <a:ext cx="9525" cy="204787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8"/>
          <p:cNvSpPr/>
          <p:nvPr/>
        </p:nvSpPr>
        <p:spPr>
          <a:xfrm>
            <a:off x="4322862" y="3683533"/>
            <a:ext cx="2271713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Старт </a:t>
            </a:r>
            <a:r>
              <a:rPr lang="en-US" sz="1100" b="1" dirty="0" err="1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обучения</a:t>
            </a: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100" b="1" dirty="0" err="1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ноябрь</a:t>
            </a:r>
            <a:r>
              <a:rPr lang="en-US" sz="1100" b="1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2025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322862" y="3923519"/>
            <a:ext cx="2271713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spcBef>
                <a:spcPts val="162"/>
              </a:spcBef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Дата защиты: </a:t>
            </a:r>
            <a:r>
              <a:rPr lang="en-US" sz="1100" b="1" dirty="0" err="1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апрель</a:t>
            </a:r>
            <a:r>
              <a:rPr lang="en-US" sz="1100" b="1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2026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869013" y="3810670"/>
            <a:ext cx="9525" cy="204787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Text 11"/>
          <p:cNvSpPr/>
          <p:nvPr/>
        </p:nvSpPr>
        <p:spPr>
          <a:xfrm>
            <a:off x="7152122" y="3715234"/>
            <a:ext cx="1166812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Автор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7152122" y="3892637"/>
            <a:ext cx="1166812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Калеев Сергей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04495" y="0"/>
            <a:ext cx="3838575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0370" y="1050168"/>
            <a:ext cx="401002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spcAft>
                <a:spcPts val="607"/>
              </a:spcAft>
              <a:buNone/>
            </a:pPr>
            <a:r>
              <a:rPr lang="en-US" sz="900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ПОСТАНОВКА ЗАДАЧИ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640370" y="1305409"/>
            <a:ext cx="4010025" cy="10239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93"/>
              </a:lnSpc>
              <a:spcAft>
                <a:spcPts val="810"/>
              </a:spcAft>
              <a:buNone/>
            </a:pPr>
            <a:r>
              <a:rPr lang="en-US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Определить тип дефекта по фото поверхности</a:t>
            </a:r>
            <a:endParaRPr lang="en-US" sz="2400" dirty="0"/>
          </a:p>
        </p:txBody>
      </p:sp>
      <p:sp>
        <p:nvSpPr>
          <p:cNvPr id="7" name="Shape 3"/>
          <p:cNvSpPr/>
          <p:nvPr/>
        </p:nvSpPr>
        <p:spPr>
          <a:xfrm>
            <a:off x="640035" y="2433675"/>
            <a:ext cx="457200" cy="14288"/>
          </a:xfrm>
          <a:prstGeom prst="rect">
            <a:avLst/>
          </a:prstGeom>
          <a:solidFill>
            <a:srgbClr val="E8A100"/>
          </a:solidFill>
          <a:ln/>
        </p:spPr>
      </p:sp>
      <p:sp>
        <p:nvSpPr>
          <p:cNvPr id="8" name="Text 4"/>
          <p:cNvSpPr/>
          <p:nvPr/>
        </p:nvSpPr>
        <p:spPr>
          <a:xfrm>
            <a:off x="640370" y="2551026"/>
            <a:ext cx="4010025" cy="7000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6"/>
              </a:lnSpc>
              <a:spcAft>
                <a:spcPts val="81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 классификации изображений. На входе — фото стальной поверхности. На выходе — категория дефекта из 10 классов.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39068" y="3436069"/>
            <a:ext cx="47625" cy="47625"/>
          </a:xfrm>
          <a:prstGeom prst="ellipse">
            <a:avLst/>
          </a:prstGeom>
          <a:solidFill>
            <a:srgbClr val="E8A100"/>
          </a:solidFill>
          <a:ln/>
        </p:spPr>
      </p:sp>
      <p:sp>
        <p:nvSpPr>
          <p:cNvPr id="10" name="Text 6"/>
          <p:cNvSpPr/>
          <p:nvPr/>
        </p:nvSpPr>
        <p:spPr>
          <a:xfrm>
            <a:off x="794370" y="3352763"/>
            <a:ext cx="2590800" cy="2143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74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класс дефекта на изображение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39068" y="3700090"/>
            <a:ext cx="47625" cy="47625"/>
          </a:xfrm>
          <a:prstGeom prst="ellipse">
            <a:avLst/>
          </a:prstGeom>
          <a:solidFill>
            <a:srgbClr val="E8A100"/>
          </a:solidFill>
          <a:ln/>
        </p:spPr>
      </p:sp>
      <p:sp>
        <p:nvSpPr>
          <p:cNvPr id="12" name="Text 8"/>
          <p:cNvSpPr/>
          <p:nvPr/>
        </p:nvSpPr>
        <p:spPr>
          <a:xfrm>
            <a:off x="795003" y="3616784"/>
            <a:ext cx="2690812" cy="2143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74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Основная метрика качества: Accuracy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39068" y="3964112"/>
            <a:ext cx="47625" cy="47625"/>
          </a:xfrm>
          <a:prstGeom prst="ellipse">
            <a:avLst/>
          </a:prstGeom>
          <a:solidFill>
            <a:srgbClr val="E8A100"/>
          </a:solidFill>
          <a:ln/>
        </p:spPr>
      </p:sp>
      <p:sp>
        <p:nvSpPr>
          <p:cNvPr id="14" name="Text 10"/>
          <p:cNvSpPr/>
          <p:nvPr/>
        </p:nvSpPr>
        <p:spPr>
          <a:xfrm>
            <a:off x="794482" y="3880805"/>
            <a:ext cx="2400300" cy="2143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74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Kaggle · zhangyunsheng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017145" y="819113"/>
            <a:ext cx="3486150" cy="3505200"/>
          </a:xfrm>
          <a:prstGeom prst="roundRect">
            <a:avLst>
              <a:gd name="adj" fmla="val 688"/>
            </a:avLst>
          </a:prstGeom>
          <a:solidFill>
            <a:srgbClr val="0F1923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202882" y="1006673"/>
            <a:ext cx="3114675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96"/>
              </a:lnSpc>
              <a:spcAft>
                <a:spcPts val="607"/>
              </a:spcAft>
              <a:buNone/>
            </a:pPr>
            <a:r>
              <a:rPr lang="en-US" sz="800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КЛАССОВ ДЕФЕКТОВ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5202882" y="1248966"/>
            <a:ext cx="3114675" cy="257175"/>
          </a:xfrm>
          <a:prstGeom prst="roundRect">
            <a:avLst>
              <a:gd name="adj" fmla="val 12642"/>
            </a:avLst>
          </a:prstGeom>
          <a:solidFill>
            <a:srgbClr val="3B82F6">
              <a:alpha val="10000"/>
            </a:srgbClr>
          </a:solidFill>
          <a:ln w="4763">
            <a:solidFill>
              <a:srgbClr val="3B82F6">
                <a:alpha val="25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58"/>
              </a:lnSpc>
              <a:buNone/>
            </a:pPr>
            <a:r>
              <a:rPr lang="en-US" sz="90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waist_folding</a:t>
            </a:r>
            <a:r>
              <a:rPr lang="ru-RU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          </a:t>
            </a:r>
            <a:r>
              <a:rPr lang="en-US" sz="900" b="1" dirty="0" err="1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Поперечные</a:t>
            </a: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складки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5202882" y="1541190"/>
            <a:ext cx="3114675" cy="257175"/>
          </a:xfrm>
          <a:prstGeom prst="roundRect">
            <a:avLst>
              <a:gd name="adj" fmla="val 12642"/>
            </a:avLst>
          </a:prstGeom>
          <a:solidFill>
            <a:srgbClr val="E8A100">
              <a:alpha val="8000"/>
            </a:srgbClr>
          </a:solidFill>
          <a:ln w="4763">
            <a:solidFill>
              <a:srgbClr val="E8A100">
                <a:alpha val="2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58"/>
              </a:lnSpc>
              <a:buNone/>
            </a:pPr>
            <a:r>
              <a:rPr lang="en-US" sz="90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punching_hole</a:t>
            </a:r>
            <a:r>
              <a:rPr lang="ru-RU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                               </a:t>
            </a:r>
            <a:r>
              <a:rPr lang="en-US" sz="900" b="1" dirty="0" err="1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Пробоины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5202882" y="1833414"/>
            <a:ext cx="3114675" cy="257175"/>
          </a:xfrm>
          <a:prstGeom prst="roundRect">
            <a:avLst>
              <a:gd name="adj" fmla="val 12642"/>
            </a:avLst>
          </a:prstGeom>
          <a:solidFill>
            <a:srgbClr val="3B82F6">
              <a:alpha val="10000"/>
            </a:srgbClr>
          </a:solidFill>
          <a:ln w="4763">
            <a:solidFill>
              <a:srgbClr val="3B82F6">
                <a:alpha val="25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58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Crease</a:t>
            </a:r>
            <a:r>
              <a:rPr lang="ru-RU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                     </a:t>
            </a:r>
            <a:r>
              <a:rPr lang="ru-RU" sz="900" b="1" dirty="0" err="1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</a:t>
            </a: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</a:t>
            </a:r>
            <a:r>
              <a:rPr lang="ru-RU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</a:t>
            </a:r>
            <a:r>
              <a:rPr lang="en-US" sz="900" b="1" dirty="0" err="1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ольные</a:t>
            </a: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складки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5202882" y="2125638"/>
            <a:ext cx="3114675" cy="257175"/>
          </a:xfrm>
          <a:prstGeom prst="roundRect">
            <a:avLst>
              <a:gd name="adj" fmla="val 12642"/>
            </a:avLst>
          </a:prstGeom>
          <a:solidFill>
            <a:srgbClr val="E8A100">
              <a:alpha val="8000"/>
            </a:srgbClr>
          </a:solidFill>
          <a:ln w="4763">
            <a:solidFill>
              <a:srgbClr val="E8A100">
                <a:alpha val="2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58"/>
              </a:lnSpc>
              <a:buNone/>
            </a:pPr>
            <a:r>
              <a:rPr lang="en-US" sz="90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water_spot</a:t>
            </a:r>
            <a:r>
              <a:rPr lang="ru-RU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                               </a:t>
            </a:r>
            <a:r>
              <a:rPr lang="en-US" sz="900" b="1" dirty="0" err="1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Пятна</a:t>
            </a: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от воды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5202882" y="2417862"/>
            <a:ext cx="3114675" cy="257175"/>
          </a:xfrm>
          <a:prstGeom prst="roundRect">
            <a:avLst>
              <a:gd name="adj" fmla="val 12642"/>
            </a:avLst>
          </a:prstGeom>
          <a:solidFill>
            <a:srgbClr val="3B82F6">
              <a:alpha val="10000"/>
            </a:srgbClr>
          </a:solidFill>
          <a:ln w="4763">
            <a:solidFill>
              <a:srgbClr val="3B82F6">
                <a:alpha val="25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58"/>
              </a:lnSpc>
              <a:buNone/>
            </a:pPr>
            <a:r>
              <a:rPr lang="en-US" sz="90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oil_spot</a:t>
            </a:r>
            <a:r>
              <a:rPr lang="ru-RU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                                 </a:t>
            </a:r>
            <a:r>
              <a:rPr lang="en-US" sz="900" b="1" dirty="0" err="1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Масляные</a:t>
            </a: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пятна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5202882" y="2710086"/>
            <a:ext cx="3114675" cy="257175"/>
          </a:xfrm>
          <a:prstGeom prst="roundRect">
            <a:avLst>
              <a:gd name="adj" fmla="val 12642"/>
            </a:avLst>
          </a:prstGeom>
          <a:solidFill>
            <a:srgbClr val="E8A100">
              <a:alpha val="8000"/>
            </a:srgbClr>
          </a:solidFill>
          <a:ln w="4763">
            <a:solidFill>
              <a:srgbClr val="E8A100">
                <a:alpha val="2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58"/>
              </a:lnSpc>
              <a:buNone/>
            </a:pPr>
            <a:r>
              <a:rPr lang="en-US" sz="90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silk_spot</a:t>
            </a:r>
            <a:r>
              <a:rPr lang="ru-RU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                        </a:t>
            </a:r>
            <a:r>
              <a:rPr lang="en-US" sz="900" b="1" dirty="0" err="1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Волокнистые</a:t>
            </a: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пятна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202881" y="3023514"/>
            <a:ext cx="3114675" cy="257175"/>
          </a:xfrm>
          <a:prstGeom prst="roundRect">
            <a:avLst>
              <a:gd name="adj" fmla="val 12642"/>
            </a:avLst>
          </a:prstGeom>
          <a:solidFill>
            <a:srgbClr val="3B82F6">
              <a:alpha val="10000"/>
            </a:srgbClr>
          </a:solidFill>
          <a:ln w="4763">
            <a:solidFill>
              <a:srgbClr val="3B82F6">
                <a:alpha val="25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58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Inclusion</a:t>
            </a:r>
            <a:r>
              <a:rPr lang="ru-RU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     </a:t>
            </a:r>
            <a:r>
              <a:rPr lang="en-US" sz="900" b="1" dirty="0" err="1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Металлические</a:t>
            </a: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включения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5202882" y="3294534"/>
            <a:ext cx="3114675" cy="257175"/>
          </a:xfrm>
          <a:prstGeom prst="roundRect">
            <a:avLst>
              <a:gd name="adj" fmla="val 12642"/>
            </a:avLst>
          </a:prstGeom>
          <a:solidFill>
            <a:srgbClr val="E8A100">
              <a:alpha val="8000"/>
            </a:srgbClr>
          </a:solidFill>
          <a:ln w="4763">
            <a:solidFill>
              <a:srgbClr val="E8A100">
                <a:alpha val="2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58"/>
              </a:lnSpc>
              <a:buNone/>
            </a:pPr>
            <a:r>
              <a:rPr lang="en-US" sz="90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rolled_pit</a:t>
            </a:r>
            <a:r>
              <a:rPr lang="ru-RU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              </a:t>
            </a:r>
            <a:r>
              <a:rPr lang="en-US" sz="900" b="1" dirty="0" err="1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Прокатные</a:t>
            </a: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углубления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5202882" y="3586758"/>
            <a:ext cx="3114675" cy="257175"/>
          </a:xfrm>
          <a:prstGeom prst="roundRect">
            <a:avLst>
              <a:gd name="adj" fmla="val 12642"/>
            </a:avLst>
          </a:prstGeom>
          <a:solidFill>
            <a:srgbClr val="3B82F6">
              <a:alpha val="10000"/>
            </a:srgbClr>
          </a:solidFill>
          <a:ln w="4763">
            <a:solidFill>
              <a:srgbClr val="3B82F6">
                <a:alpha val="25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58"/>
              </a:lnSpc>
              <a:buNone/>
            </a:pPr>
            <a:r>
              <a:rPr lang="en-US" sz="90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crescent_gap</a:t>
            </a:r>
            <a:r>
              <a:rPr lang="ru-RU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           </a:t>
            </a:r>
            <a:r>
              <a:rPr lang="en-US" sz="900" b="1" dirty="0" err="1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Серповидные</a:t>
            </a: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зазоры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5202882" y="3878982"/>
            <a:ext cx="3114675" cy="257175"/>
          </a:xfrm>
          <a:prstGeom prst="roundRect">
            <a:avLst>
              <a:gd name="adj" fmla="val 12642"/>
            </a:avLst>
          </a:prstGeom>
          <a:solidFill>
            <a:srgbClr val="E8A100">
              <a:alpha val="8000"/>
            </a:srgbClr>
          </a:solidFill>
          <a:ln w="4763">
            <a:solidFill>
              <a:srgbClr val="E8A100">
                <a:alpha val="2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58"/>
              </a:lnSpc>
              <a:buNone/>
            </a:pPr>
            <a:r>
              <a:rPr lang="en-US" sz="90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welding_line</a:t>
            </a:r>
            <a:r>
              <a:rPr lang="ru-RU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                             </a:t>
            </a:r>
            <a:r>
              <a:rPr lang="en-US" sz="900" b="1" dirty="0" err="1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Сварные</a:t>
            </a: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швы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3" name="Text 1"/>
          <p:cNvSpPr/>
          <p:nvPr/>
        </p:nvSpPr>
        <p:spPr>
          <a:xfrm>
            <a:off x="640110" y="271463"/>
            <a:ext cx="681038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556" y="477031"/>
            <a:ext cx="7862887" cy="3810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10"/>
              </a:lnSpc>
              <a:spcBef>
                <a:spcPts val="324"/>
              </a:spcBef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Датасет: Defects Class and Location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35" y="936241"/>
            <a:ext cx="457200" cy="14288"/>
          </a:xfrm>
          <a:prstGeom prst="rect">
            <a:avLst/>
          </a:prstGeom>
          <a:solidFill>
            <a:srgbClr val="E8A10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73" y="1104863"/>
            <a:ext cx="1828800" cy="1114425"/>
          </a:xfrm>
          <a:prstGeom prst="roundRect">
            <a:avLst>
              <a:gd name="adj" fmla="val 5386"/>
            </a:avLst>
          </a:prstGeom>
          <a:solidFill>
            <a:srgbClr val="1A2C3D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8191" y="1264853"/>
            <a:ext cx="1452562" cy="5476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4300" b="1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2280</a:t>
            </a:r>
            <a:endParaRPr lang="en-US" sz="4300" dirty="0"/>
          </a:p>
        </p:txBody>
      </p:sp>
      <p:sp>
        <p:nvSpPr>
          <p:cNvPr id="8" name="Text 6"/>
          <p:cNvSpPr/>
          <p:nvPr/>
        </p:nvSpPr>
        <p:spPr>
          <a:xfrm>
            <a:off x="828191" y="1854547"/>
            <a:ext cx="1452562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20"/>
              </a:lnSpc>
              <a:spcBef>
                <a:spcPts val="324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изображений всего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51782" y="1104863"/>
            <a:ext cx="1828800" cy="1114425"/>
          </a:xfrm>
          <a:prstGeom prst="roundRect">
            <a:avLst>
              <a:gd name="adj" fmla="val 5386"/>
            </a:avLst>
          </a:prstGeom>
          <a:solidFill>
            <a:srgbClr val="1A2C3D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9901" y="1264853"/>
            <a:ext cx="1452562" cy="5476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4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1814</a:t>
            </a:r>
            <a:endParaRPr lang="en-US" sz="4300" dirty="0"/>
          </a:p>
        </p:txBody>
      </p:sp>
      <p:sp>
        <p:nvSpPr>
          <p:cNvPr id="11" name="Text 9"/>
          <p:cNvSpPr/>
          <p:nvPr/>
        </p:nvSpPr>
        <p:spPr>
          <a:xfrm>
            <a:off x="2839901" y="1854547"/>
            <a:ext cx="1452562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20"/>
              </a:lnSpc>
              <a:spcBef>
                <a:spcPts val="324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очистки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92" y="1104863"/>
            <a:ext cx="1828800" cy="1114425"/>
          </a:xfrm>
          <a:prstGeom prst="roundRect">
            <a:avLst>
              <a:gd name="adj" fmla="val 5386"/>
            </a:avLst>
          </a:prstGeom>
          <a:solidFill>
            <a:srgbClr val="1A2C3D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51611" y="1264853"/>
            <a:ext cx="1452562" cy="5476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4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4300" dirty="0"/>
          </a:p>
        </p:txBody>
      </p:sp>
      <p:sp>
        <p:nvSpPr>
          <p:cNvPr id="14" name="Text 12"/>
          <p:cNvSpPr/>
          <p:nvPr/>
        </p:nvSpPr>
        <p:spPr>
          <a:xfrm>
            <a:off x="4851611" y="1854547"/>
            <a:ext cx="1452562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20"/>
              </a:lnSpc>
              <a:spcBef>
                <a:spcPts val="324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классов дефектов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75202" y="1104863"/>
            <a:ext cx="1828800" cy="1114425"/>
          </a:xfrm>
          <a:prstGeom prst="roundRect">
            <a:avLst>
              <a:gd name="adj" fmla="val 5386"/>
            </a:avLst>
          </a:prstGeom>
          <a:solidFill>
            <a:srgbClr val="1A2C3D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63321" y="1264853"/>
            <a:ext cx="1452562" cy="5476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43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466</a:t>
            </a:r>
            <a:endParaRPr lang="en-US" sz="4300" dirty="0"/>
          </a:p>
        </p:txBody>
      </p:sp>
      <p:sp>
        <p:nvSpPr>
          <p:cNvPr id="17" name="Text 15"/>
          <p:cNvSpPr/>
          <p:nvPr/>
        </p:nvSpPr>
        <p:spPr>
          <a:xfrm>
            <a:off x="6863321" y="1854547"/>
            <a:ext cx="1452562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20"/>
              </a:lnSpc>
              <a:spcBef>
                <a:spcPts val="324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удалено при очистке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9924" y="2373250"/>
            <a:ext cx="4995862" cy="1262063"/>
          </a:xfrm>
          <a:prstGeom prst="roundRect">
            <a:avLst>
              <a:gd name="adj" fmla="val 4200"/>
            </a:avLst>
          </a:prstGeom>
          <a:solidFill>
            <a:srgbClr val="1A2C3D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8042" y="2506600"/>
            <a:ext cx="4619625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spcAft>
                <a:spcPts val="810"/>
              </a:spcAft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Разбиение на выборки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8080" y="2828590"/>
            <a:ext cx="1447800" cy="23336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r>
              <a:rPr lang="ru-RU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 </a:t>
            </a: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1269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8080" y="3112368"/>
            <a:ext cx="1447800" cy="42863"/>
          </a:xfrm>
          <a:prstGeom prst="roundRect">
            <a:avLst>
              <a:gd name="adj" fmla="val 266664"/>
            </a:avLst>
          </a:prstGeom>
          <a:solidFill>
            <a:srgbClr val="1E3A5F"/>
          </a:solidFill>
          <a:ln/>
        </p:spPr>
      </p:sp>
      <p:sp>
        <p:nvSpPr>
          <p:cNvPr id="22" name="Shape 20"/>
          <p:cNvSpPr/>
          <p:nvPr/>
        </p:nvSpPr>
        <p:spPr>
          <a:xfrm>
            <a:off x="827447" y="3112368"/>
            <a:ext cx="1014413" cy="42863"/>
          </a:xfrm>
          <a:prstGeom prst="roundRect">
            <a:avLst>
              <a:gd name="adj" fmla="val 266664"/>
            </a:avLst>
          </a:prstGeom>
          <a:solidFill>
            <a:srgbClr val="22C55E"/>
          </a:solidFill>
          <a:ln/>
        </p:spPr>
      </p:sp>
      <p:sp>
        <p:nvSpPr>
          <p:cNvPr id="23" name="Text 21"/>
          <p:cNvSpPr/>
          <p:nvPr/>
        </p:nvSpPr>
        <p:spPr>
          <a:xfrm>
            <a:off x="2413918" y="2828590"/>
            <a:ext cx="1447800" cy="23336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</a:t>
            </a:r>
            <a:r>
              <a:rPr lang="ru-RU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     </a:t>
            </a:r>
            <a:r>
              <a:rPr lang="en-US" sz="12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413918" y="3112368"/>
            <a:ext cx="1447800" cy="42863"/>
          </a:xfrm>
          <a:prstGeom prst="roundRect">
            <a:avLst>
              <a:gd name="adj" fmla="val 266664"/>
            </a:avLst>
          </a:prstGeom>
          <a:solidFill>
            <a:srgbClr val="1E3A5F"/>
          </a:solidFill>
          <a:ln/>
        </p:spPr>
      </p:sp>
      <p:sp>
        <p:nvSpPr>
          <p:cNvPr id="25" name="Shape 23"/>
          <p:cNvSpPr/>
          <p:nvPr/>
        </p:nvSpPr>
        <p:spPr>
          <a:xfrm>
            <a:off x="2412578" y="3112368"/>
            <a:ext cx="219075" cy="42863"/>
          </a:xfrm>
          <a:prstGeom prst="roundRect">
            <a:avLst>
              <a:gd name="adj" fmla="val 266664"/>
            </a:avLst>
          </a:prstGeom>
          <a:solidFill>
            <a:srgbClr val="A855F7"/>
          </a:solidFill>
          <a:ln/>
        </p:spPr>
      </p:sp>
      <p:sp>
        <p:nvSpPr>
          <p:cNvPr id="26" name="Text 24"/>
          <p:cNvSpPr/>
          <p:nvPr/>
        </p:nvSpPr>
        <p:spPr>
          <a:xfrm>
            <a:off x="3999756" y="2828590"/>
            <a:ext cx="1447800" cy="23336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r>
              <a:rPr lang="ru-RU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  </a:t>
            </a: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273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999756" y="3112368"/>
            <a:ext cx="1447800" cy="42863"/>
          </a:xfrm>
          <a:prstGeom prst="roundRect">
            <a:avLst>
              <a:gd name="adj" fmla="val 266664"/>
            </a:avLst>
          </a:prstGeom>
          <a:solidFill>
            <a:srgbClr val="1E3A5F"/>
          </a:solidFill>
          <a:ln/>
        </p:spPr>
      </p:sp>
      <p:sp>
        <p:nvSpPr>
          <p:cNvPr id="28" name="Shape 26"/>
          <p:cNvSpPr/>
          <p:nvPr/>
        </p:nvSpPr>
        <p:spPr>
          <a:xfrm>
            <a:off x="3998416" y="3112368"/>
            <a:ext cx="219075" cy="42863"/>
          </a:xfrm>
          <a:prstGeom prst="roundRect">
            <a:avLst>
              <a:gd name="adj" fmla="val 266664"/>
            </a:avLst>
          </a:prstGeom>
          <a:solidFill>
            <a:srgbClr val="F97316"/>
          </a:solidFill>
          <a:ln/>
        </p:spPr>
      </p:sp>
      <p:sp>
        <p:nvSpPr>
          <p:cNvPr id="29" name="Shape 27"/>
          <p:cNvSpPr/>
          <p:nvPr/>
        </p:nvSpPr>
        <p:spPr>
          <a:xfrm>
            <a:off x="5818212" y="2373250"/>
            <a:ext cx="2686050" cy="1262063"/>
          </a:xfrm>
          <a:prstGeom prst="roundRect">
            <a:avLst>
              <a:gd name="adj" fmla="val 4200"/>
            </a:avLst>
          </a:prstGeom>
          <a:solidFill>
            <a:srgbClr val="1A2C3D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06331" y="2506600"/>
            <a:ext cx="2309813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spcAft>
                <a:spcPts val="607"/>
              </a:spcAft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Параметры изображений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006331" y="2803401"/>
            <a:ext cx="2309813" cy="20478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Размер</a:t>
            </a:r>
            <a:r>
              <a:rPr lang="ru-RU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b="1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 × 160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006331" y="3050158"/>
            <a:ext cx="2309813" cy="20478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</a:t>
            </a:r>
            <a:r>
              <a:rPr lang="ru-RU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06331" y="3296915"/>
            <a:ext cx="2309813" cy="20478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seed</a:t>
            </a:r>
            <a:r>
              <a:rPr lang="ru-RU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556" y="3712629"/>
            <a:ext cx="7862887" cy="290513"/>
          </a:xfrm>
          <a:prstGeom prst="roundRect">
            <a:avLst>
              <a:gd name="adj" fmla="val 12384"/>
            </a:avLst>
          </a:prstGeom>
          <a:solidFill>
            <a:srgbClr val="3B82F6">
              <a:alpha val="7000"/>
            </a:srgbClr>
          </a:solidFill>
          <a:ln w="4763">
            <a:solidFill>
              <a:srgbClr val="3B82F6">
                <a:alpha val="2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задачи классификации были оставлены только single-class изображения.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6400" y="0"/>
            <a:ext cx="365760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39328" y="271463"/>
            <a:ext cx="1214438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МЕТОДОЛОГИЯ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640556" y="477031"/>
            <a:ext cx="7862887" cy="3810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10"/>
              </a:lnSpc>
              <a:spcBef>
                <a:spcPts val="324"/>
              </a:spcBef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Подход: Transfer Learning</a:t>
            </a:r>
            <a:endParaRPr lang="en-US" sz="2700" dirty="0"/>
          </a:p>
        </p:txBody>
      </p:sp>
      <p:sp>
        <p:nvSpPr>
          <p:cNvPr id="7" name="Shape 3"/>
          <p:cNvSpPr/>
          <p:nvPr/>
        </p:nvSpPr>
        <p:spPr>
          <a:xfrm>
            <a:off x="640035" y="936241"/>
            <a:ext cx="457200" cy="14288"/>
          </a:xfrm>
          <a:prstGeom prst="rect">
            <a:avLst/>
          </a:prstGeom>
          <a:solidFill>
            <a:srgbClr val="E8A100"/>
          </a:solidFill>
          <a:ln/>
        </p:spPr>
      </p:sp>
      <p:sp>
        <p:nvSpPr>
          <p:cNvPr id="8" name="Shape 4"/>
          <p:cNvSpPr/>
          <p:nvPr/>
        </p:nvSpPr>
        <p:spPr>
          <a:xfrm>
            <a:off x="639589" y="1867756"/>
            <a:ext cx="1624012" cy="1447800"/>
          </a:xfrm>
          <a:prstGeom prst="roundRect">
            <a:avLst>
              <a:gd name="adj" fmla="val 3191"/>
            </a:avLst>
          </a:prstGeom>
          <a:solidFill>
            <a:srgbClr val="1A2C3D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82464" y="2000622"/>
            <a:ext cx="1338262" cy="342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Aft>
                <a:spcPts val="324"/>
              </a:spcAft>
              <a:buNone/>
            </a:pPr>
            <a:r>
              <a:rPr lang="en-US" sz="1800" b="1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782464" y="2384785"/>
            <a:ext cx="1338262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28"/>
              </a:lnSpc>
              <a:spcAft>
                <a:spcPts val="324"/>
              </a:spcAft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782464" y="2644825"/>
            <a:ext cx="1338262" cy="538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11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Загрузка и очистка датасета. Разбиение 70/15/15.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401230" y="2586856"/>
            <a:ext cx="180975" cy="9525"/>
          </a:xfrm>
          <a:prstGeom prst="rect">
            <a:avLst/>
          </a:prstGeom>
          <a:solidFill>
            <a:srgbClr val="E8A100"/>
          </a:solidFill>
          <a:ln/>
        </p:spPr>
      </p:sp>
      <p:sp>
        <p:nvSpPr>
          <p:cNvPr id="13" name="Shape 9"/>
          <p:cNvSpPr/>
          <p:nvPr/>
        </p:nvSpPr>
        <p:spPr>
          <a:xfrm>
            <a:off x="2719834" y="1867756"/>
            <a:ext cx="1624012" cy="1447800"/>
          </a:xfrm>
          <a:prstGeom prst="roundRect">
            <a:avLst>
              <a:gd name="adj" fmla="val 3191"/>
            </a:avLst>
          </a:prstGeom>
          <a:solidFill>
            <a:srgbClr val="1A2C3D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862709" y="2000622"/>
            <a:ext cx="1338262" cy="342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Aft>
                <a:spcPts val="324"/>
              </a:spcAft>
              <a:buNone/>
            </a:pPr>
            <a:r>
              <a:rPr lang="en-US" sz="1800" b="1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2862709" y="2384785"/>
            <a:ext cx="1338262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28"/>
              </a:lnSpc>
              <a:spcAft>
                <a:spcPts val="324"/>
              </a:spcAft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Предобработка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862709" y="2644825"/>
            <a:ext cx="1338262" cy="538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11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Resize 160x160, нормализация, аугментации.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481475" y="2586856"/>
            <a:ext cx="180975" cy="9525"/>
          </a:xfrm>
          <a:prstGeom prst="rect">
            <a:avLst/>
          </a:prstGeom>
          <a:solidFill>
            <a:srgbClr val="E8A100"/>
          </a:solidFill>
          <a:ln/>
        </p:spPr>
      </p:sp>
      <p:sp>
        <p:nvSpPr>
          <p:cNvPr id="18" name="Shape 14"/>
          <p:cNvSpPr/>
          <p:nvPr/>
        </p:nvSpPr>
        <p:spPr>
          <a:xfrm>
            <a:off x="4800079" y="1777268"/>
            <a:ext cx="1624012" cy="1628775"/>
          </a:xfrm>
          <a:prstGeom prst="roundRect">
            <a:avLst>
              <a:gd name="adj" fmla="val 2536"/>
            </a:avLst>
          </a:prstGeom>
          <a:solidFill>
            <a:srgbClr val="1A2C3D"/>
          </a:solidFill>
          <a:ln w="4763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942954" y="1911028"/>
            <a:ext cx="1338262" cy="342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Aft>
                <a:spcPts val="324"/>
              </a:spcAft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4942954" y="2295190"/>
            <a:ext cx="1338262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28"/>
              </a:lnSpc>
              <a:spcAft>
                <a:spcPts val="324"/>
              </a:spcAft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942954" y="2554337"/>
            <a:ext cx="1338262" cy="7191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11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Предобученный ResNet + новый классификатор на 10 классов.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561720" y="2586856"/>
            <a:ext cx="180975" cy="952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Shape 19"/>
          <p:cNvSpPr/>
          <p:nvPr/>
        </p:nvSpPr>
        <p:spPr>
          <a:xfrm>
            <a:off x="6880324" y="1867756"/>
            <a:ext cx="1624012" cy="1447800"/>
          </a:xfrm>
          <a:prstGeom prst="roundRect">
            <a:avLst>
              <a:gd name="adj" fmla="val 3191"/>
            </a:avLst>
          </a:prstGeom>
          <a:solidFill>
            <a:srgbClr val="1A2C3D"/>
          </a:solidFill>
          <a:ln w="4763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023199" y="2000622"/>
            <a:ext cx="1338262" cy="342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Aft>
                <a:spcPts val="324"/>
              </a:spcAft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7023199" y="2384785"/>
            <a:ext cx="1338262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28"/>
              </a:lnSpc>
              <a:spcAft>
                <a:spcPts val="324"/>
              </a:spcAft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Оценка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7023199" y="2644825"/>
            <a:ext cx="1338262" cy="538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11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Оценка качества по Accuracy на тестовой выборке.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640556" y="4233044"/>
            <a:ext cx="7862887" cy="652463"/>
          </a:xfrm>
          <a:prstGeom prst="roundRect">
            <a:avLst>
              <a:gd name="adj" fmla="val 15713"/>
            </a:avLst>
          </a:prstGeom>
          <a:solidFill>
            <a:srgbClr val="E8A100">
              <a:alpha val="8000"/>
            </a:srgbClr>
          </a:solidFill>
          <a:ln w="4763">
            <a:solidFill>
              <a:srgbClr val="E8A100">
                <a:alpha val="20000"/>
              </a:srgbClr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872617" y="4456881"/>
            <a:ext cx="38100" cy="204787"/>
          </a:xfrm>
          <a:prstGeom prst="roundRect">
            <a:avLst>
              <a:gd name="adj" fmla="val 288000"/>
            </a:avLst>
          </a:prstGeom>
          <a:solidFill>
            <a:srgbClr val="E8A100"/>
          </a:solidFill>
          <a:ln/>
        </p:spPr>
      </p:sp>
      <p:sp>
        <p:nvSpPr>
          <p:cNvPr id="29" name="Text 25"/>
          <p:cNvSpPr/>
          <p:nvPr/>
        </p:nvSpPr>
        <p:spPr>
          <a:xfrm>
            <a:off x="1046485" y="4340200"/>
            <a:ext cx="7276876" cy="4381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Используем веса ImageNet для инициализации — модель уже умеет выделять базовые признаки. Модель </a:t>
            </a:r>
            <a:r>
              <a:rPr lang="en-US" sz="1100" dirty="0" err="1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дообучалась</a:t>
            </a: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под задачу классификации 10 классов.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5133"/>
            <a:ext cx="9144000" cy="514350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3" name="Text 1"/>
          <p:cNvSpPr/>
          <p:nvPr/>
        </p:nvSpPr>
        <p:spPr>
          <a:xfrm>
            <a:off x="640147" y="271463"/>
            <a:ext cx="1590675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4 — BASELINE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39068" y="477403"/>
            <a:ext cx="2333625" cy="10239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93"/>
              </a:lnSpc>
              <a:spcBef>
                <a:spcPts val="324"/>
              </a:spcBef>
              <a:buNone/>
            </a:pPr>
            <a:r>
              <a:rPr lang="en-US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ResNet18: первый результат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35" y="1579922"/>
            <a:ext cx="457200" cy="14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3933502" y="3259665"/>
            <a:ext cx="1328738" cy="781050"/>
          </a:xfrm>
          <a:prstGeom prst="roundRect">
            <a:avLst>
              <a:gd name="adj" fmla="val 10965"/>
            </a:avLst>
          </a:prstGeom>
          <a:solidFill>
            <a:srgbClr val="1A2C3D"/>
          </a:solidFill>
          <a:ln w="4763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76377" y="3348095"/>
            <a:ext cx="1042988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36"/>
              </a:lnSpc>
              <a:buNone/>
            </a:pPr>
            <a:r>
              <a:rPr lang="en-US" sz="27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85.7%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076377" y="3716523"/>
            <a:ext cx="1042988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2"/>
              </a:lnSpc>
              <a:spcBef>
                <a:spcPts val="203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33989" y="3283595"/>
            <a:ext cx="1338262" cy="781050"/>
          </a:xfrm>
          <a:prstGeom prst="roundRect">
            <a:avLst>
              <a:gd name="adj" fmla="val 10965"/>
            </a:avLst>
          </a:prstGeom>
          <a:solidFill>
            <a:srgbClr val="1A2C3D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13258" y="3368860"/>
            <a:ext cx="1052512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36"/>
              </a:lnSpc>
              <a:buNone/>
            </a:pPr>
            <a:r>
              <a:rPr lang="en-US" sz="2700" b="1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95.4%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713258" y="3746847"/>
            <a:ext cx="1052512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2"/>
              </a:lnSpc>
              <a:spcBef>
                <a:spcPts val="203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Accuracy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9031" y="1931446"/>
            <a:ext cx="2333625" cy="2196143"/>
          </a:xfrm>
          <a:prstGeom prst="roundRect">
            <a:avLst>
              <a:gd name="adj" fmla="val 2301"/>
            </a:avLst>
          </a:prstGeom>
          <a:solidFill>
            <a:srgbClr val="1A2C3D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187" y="2106662"/>
            <a:ext cx="1957388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spcAft>
                <a:spcPts val="607"/>
              </a:spcAft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Гиперпараметры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7187" y="2449674"/>
            <a:ext cx="1957388" cy="20478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size</a:t>
            </a:r>
            <a:r>
              <a:rPr lang="ru-RU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 × 160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7187" y="2755843"/>
            <a:ext cx="1957388" cy="20478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size</a:t>
            </a:r>
            <a:r>
              <a:rPr lang="ru-RU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7187" y="3078939"/>
            <a:ext cx="1957388" cy="20478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Epochs</a:t>
            </a:r>
            <a:r>
              <a:rPr lang="ru-RU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3503" y="3402035"/>
            <a:ext cx="1957388" cy="20478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rate</a:t>
            </a:r>
            <a:r>
              <a:rPr lang="ru-RU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3503" y="3732560"/>
            <a:ext cx="1957388" cy="20478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 Accuracy</a:t>
            </a:r>
            <a:r>
              <a:rPr lang="ru-RU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r>
              <a:rPr lang="en-US" sz="10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83.09%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199433" y="258180"/>
            <a:ext cx="530542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4"/>
              </a:lnSpc>
              <a:spcAft>
                <a:spcPts val="607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ОБУЧЕНИЯ</a:t>
            </a:r>
            <a:endParaRPr lang="en-US" sz="9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8403" y="622743"/>
            <a:ext cx="5305425" cy="199217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39031" y="4302805"/>
            <a:ext cx="5305425" cy="2143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baseline-результат, полученный на этапе 4.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3" name="Text 1"/>
          <p:cNvSpPr/>
          <p:nvPr/>
        </p:nvSpPr>
        <p:spPr>
          <a:xfrm>
            <a:off x="640333" y="271463"/>
            <a:ext cx="2138363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5 — ЭКСПЕРИМЕНТЫ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556" y="477031"/>
            <a:ext cx="7862887" cy="3810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10"/>
              </a:lnSpc>
              <a:spcBef>
                <a:spcPts val="324"/>
              </a:spcBef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трёх архитектур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35" y="936241"/>
            <a:ext cx="457200" cy="14288"/>
          </a:xfrm>
          <a:prstGeom prst="rect">
            <a:avLst/>
          </a:prstGeom>
          <a:solidFill>
            <a:srgbClr val="E8A100"/>
          </a:solidFill>
          <a:ln/>
        </p:spPr>
      </p:sp>
      <p:sp>
        <p:nvSpPr>
          <p:cNvPr id="6" name="Shape 4"/>
          <p:cNvSpPr/>
          <p:nvPr/>
        </p:nvSpPr>
        <p:spPr>
          <a:xfrm>
            <a:off x="640370" y="1106053"/>
            <a:ext cx="2495550" cy="3386138"/>
          </a:xfrm>
          <a:prstGeom prst="roundRect">
            <a:avLst>
              <a:gd name="adj" fmla="val 1343"/>
            </a:avLst>
          </a:prstGeom>
          <a:solidFill>
            <a:srgbClr val="1A2C3D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8489" y="1263997"/>
            <a:ext cx="2119312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44"/>
              </a:lnSpc>
              <a:spcAft>
                <a:spcPts val="607"/>
              </a:spcAft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ResNet18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8489" y="1588219"/>
            <a:ext cx="2119312" cy="5762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spcAft>
                <a:spcPts val="81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Лёгкая базовая модель. 11.2M параметров. Использовалась в этапе 4 как baseline.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8489" y="2267917"/>
            <a:ext cx="2119312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size</a:t>
            </a:r>
            <a:r>
              <a:rPr lang="ru-RU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8489" y="2500982"/>
            <a:ext cx="2119312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Epochs</a:t>
            </a:r>
            <a:r>
              <a:rPr lang="ru-RU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8489" y="2734047"/>
            <a:ext cx="2119312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Параметры</a:t>
            </a:r>
            <a:r>
              <a:rPr lang="ru-RU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11.2M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8489" y="3528789"/>
            <a:ext cx="2119312" cy="804862"/>
          </a:xfrm>
          <a:prstGeom prst="rect">
            <a:avLst/>
          </a:prstGeom>
          <a:ln/>
        </p:spPr>
      </p:sp>
      <p:sp>
        <p:nvSpPr>
          <p:cNvPr id="13" name="Text 11"/>
          <p:cNvSpPr/>
          <p:nvPr/>
        </p:nvSpPr>
        <p:spPr>
          <a:xfrm>
            <a:off x="828489" y="3635685"/>
            <a:ext cx="2119312" cy="481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25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69.2%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828489" y="4142631"/>
            <a:ext cx="2119312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2"/>
              </a:lnSpc>
              <a:spcBef>
                <a:spcPts val="203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19425" y="1106053"/>
            <a:ext cx="2505075" cy="3386138"/>
          </a:xfrm>
          <a:prstGeom prst="roundRect">
            <a:avLst>
              <a:gd name="adj" fmla="val 1332"/>
            </a:avLst>
          </a:prstGeom>
          <a:solidFill>
            <a:srgbClr val="1A2C3D"/>
          </a:solidFill>
          <a:ln w="9525">
            <a:solidFill>
              <a:srgbClr val="E8A100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86138" y="1037890"/>
            <a:ext cx="1171575" cy="219075"/>
          </a:xfrm>
          <a:prstGeom prst="roundRect">
            <a:avLst>
              <a:gd name="adj" fmla="val 52174"/>
            </a:avLst>
          </a:prstGeom>
          <a:solidFill>
            <a:srgbClr val="E8A100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0F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ПОБЕДИТЕЛЬ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12307" y="1268760"/>
            <a:ext cx="2119312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44"/>
              </a:lnSpc>
              <a:spcAft>
                <a:spcPts val="607"/>
              </a:spcAft>
              <a:buNone/>
            </a:pPr>
            <a:r>
              <a:rPr lang="en-US" sz="1200" b="1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ResNet34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12307" y="1592982"/>
            <a:ext cx="2119312" cy="5762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spcAft>
                <a:spcPts val="81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Более глубокая модель. 21.3M параметров. Лучший баланс качества.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12307" y="2272680"/>
            <a:ext cx="2119312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size</a:t>
            </a:r>
            <a:r>
              <a:rPr lang="ru-RU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12307" y="2505745"/>
            <a:ext cx="2119312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Epochs</a:t>
            </a:r>
            <a:r>
              <a:rPr lang="ru-RU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12307" y="2738810"/>
            <a:ext cx="2119312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Параметры</a:t>
            </a:r>
            <a:r>
              <a:rPr lang="ru-RU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21.3M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512307" y="3524027"/>
            <a:ext cx="2119312" cy="804862"/>
          </a:xfrm>
          <a:prstGeom prst="rect">
            <a:avLst/>
          </a:prstGeom>
          <a:ln/>
        </p:spPr>
      </p:sp>
      <p:sp>
        <p:nvSpPr>
          <p:cNvPr id="23" name="Text 21"/>
          <p:cNvSpPr/>
          <p:nvPr/>
        </p:nvSpPr>
        <p:spPr>
          <a:xfrm>
            <a:off x="3512307" y="3630923"/>
            <a:ext cx="2119312" cy="481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2500" b="1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84.6%</a:t>
            </a:r>
            <a:endParaRPr lang="en-US" sz="2500" dirty="0"/>
          </a:p>
        </p:txBody>
      </p:sp>
      <p:sp>
        <p:nvSpPr>
          <p:cNvPr id="24" name="Text 22"/>
          <p:cNvSpPr/>
          <p:nvPr/>
        </p:nvSpPr>
        <p:spPr>
          <a:xfrm>
            <a:off x="3512307" y="4137868"/>
            <a:ext cx="2119312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2"/>
              </a:lnSpc>
              <a:spcBef>
                <a:spcPts val="203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08005" y="1106053"/>
            <a:ext cx="2495550" cy="3386138"/>
          </a:xfrm>
          <a:prstGeom prst="roundRect">
            <a:avLst>
              <a:gd name="adj" fmla="val 1343"/>
            </a:avLst>
          </a:prstGeom>
          <a:solidFill>
            <a:srgbClr val="1A2C3D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6124" y="1263997"/>
            <a:ext cx="2119312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44"/>
              </a:lnSpc>
              <a:spcAft>
                <a:spcPts val="607"/>
              </a:spcAft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MobileNetV3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96124" y="1588219"/>
            <a:ext cx="2119312" cy="5762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spcAft>
                <a:spcPts val="81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Компактная мобильная модель. 1.5M параметров. Оптимизирована под скорость.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96124" y="2267917"/>
            <a:ext cx="2119312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size</a:t>
            </a:r>
            <a:r>
              <a:rPr lang="ru-RU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96124" y="2500982"/>
            <a:ext cx="2119312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Epochs</a:t>
            </a:r>
            <a:r>
              <a:rPr lang="ru-RU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96124" y="2734047"/>
            <a:ext cx="2119312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Параметры</a:t>
            </a:r>
            <a:r>
              <a:rPr lang="ru-RU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1.5M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96124" y="3528789"/>
            <a:ext cx="2119312" cy="804862"/>
          </a:xfrm>
          <a:prstGeom prst="rect">
            <a:avLst/>
          </a:prstGeom>
          <a:ln/>
        </p:spPr>
      </p:sp>
      <p:sp>
        <p:nvSpPr>
          <p:cNvPr id="32" name="Text 30"/>
          <p:cNvSpPr/>
          <p:nvPr/>
        </p:nvSpPr>
        <p:spPr>
          <a:xfrm>
            <a:off x="6196124" y="3635685"/>
            <a:ext cx="2119312" cy="481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25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25.6%</a:t>
            </a:r>
            <a:endParaRPr lang="en-US" sz="2500" dirty="0"/>
          </a:p>
        </p:txBody>
      </p:sp>
      <p:sp>
        <p:nvSpPr>
          <p:cNvPr id="33" name="Text 31"/>
          <p:cNvSpPr/>
          <p:nvPr/>
        </p:nvSpPr>
        <p:spPr>
          <a:xfrm>
            <a:off x="6196124" y="4142631"/>
            <a:ext cx="2119312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2"/>
              </a:lnSpc>
              <a:spcBef>
                <a:spcPts val="203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556" y="4595775"/>
            <a:ext cx="7862887" cy="290513"/>
          </a:xfrm>
          <a:prstGeom prst="roundRect">
            <a:avLst>
              <a:gd name="adj" fmla="val 12384"/>
            </a:avLst>
          </a:prstGeom>
          <a:solidFill>
            <a:srgbClr val="3B82F6">
              <a:alpha val="7000"/>
            </a:srgbClr>
          </a:solidFill>
          <a:ln w="4763">
            <a:solidFill>
              <a:srgbClr val="3B82F6">
                <a:alpha val="2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Модели сравнивались в одинаковых условиях коротких экспериментов.</a:t>
            </a:r>
            <a:endParaRPr lang="en-US" sz="900" dirty="0"/>
          </a:p>
        </p:txBody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8489" y="3528789"/>
            <a:ext cx="2119312" cy="804862"/>
          </a:xfrm>
          <a:prstGeom prst="rect">
            <a:avLst/>
          </a:prstGeom>
        </p:spPr>
      </p:pic>
      <p:pic>
        <p:nvPicPr>
          <p:cNvPr id="3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12307" y="3524027"/>
            <a:ext cx="2119312" cy="804862"/>
          </a:xfrm>
          <a:prstGeom prst="rect">
            <a:avLst/>
          </a:prstGeom>
        </p:spPr>
      </p:pic>
      <p:pic>
        <p:nvPicPr>
          <p:cNvPr id="3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96124" y="3528789"/>
            <a:ext cx="2119312" cy="8048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3" name="Text 1"/>
          <p:cNvSpPr/>
          <p:nvPr/>
        </p:nvSpPr>
        <p:spPr>
          <a:xfrm>
            <a:off x="640482" y="271463"/>
            <a:ext cx="1019175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1003" y="476622"/>
            <a:ext cx="3381375" cy="723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1"/>
              </a:lnSpc>
              <a:spcBef>
                <a:spcPts val="324"/>
              </a:spcBef>
              <a:buNone/>
            </a:pPr>
            <a:r>
              <a:rPr lang="en-US" sz="2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Детальное сравнение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35" y="1278322"/>
            <a:ext cx="457200" cy="14288"/>
          </a:xfrm>
          <a:prstGeom prst="rect">
            <a:avLst/>
          </a:prstGeom>
          <a:solidFill>
            <a:srgbClr val="E8A100"/>
          </a:solidFill>
          <a:ln/>
        </p:spPr>
      </p:sp>
      <p:sp>
        <p:nvSpPr>
          <p:cNvPr id="6" name="Shape 4"/>
          <p:cNvSpPr/>
          <p:nvPr/>
        </p:nvSpPr>
        <p:spPr>
          <a:xfrm>
            <a:off x="641003" y="1421309"/>
            <a:ext cx="3381375" cy="1776413"/>
          </a:xfrm>
          <a:prstGeom prst="roundRect">
            <a:avLst>
              <a:gd name="adj" fmla="val 2120"/>
            </a:avLst>
          </a:prstGeom>
          <a:solidFill>
            <a:srgbClr val="1A2C3D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5765" y="1425401"/>
            <a:ext cx="3371850" cy="51435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8" name="Text 6"/>
          <p:cNvSpPr/>
          <p:nvPr/>
        </p:nvSpPr>
        <p:spPr>
          <a:xfrm>
            <a:off x="780976" y="1487314"/>
            <a:ext cx="1543050" cy="3857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22575" y="1487314"/>
            <a:ext cx="771525" cy="3857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2"/>
              </a:lnSpc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94620" y="1487314"/>
            <a:ext cx="785813" cy="3857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2"/>
              </a:lnSpc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Параметры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5765" y="1938858"/>
            <a:ext cx="3371850" cy="419100"/>
          </a:xfrm>
          <a:prstGeom prst="rect">
            <a:avLst/>
          </a:prstGeom>
          <a:solidFill>
            <a:srgbClr val="E8A100">
              <a:alpha val="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81162" y="2081733"/>
            <a:ext cx="38100" cy="128588"/>
          </a:xfrm>
          <a:prstGeom prst="roundRect">
            <a:avLst>
              <a:gd name="adj" fmla="val 288000"/>
            </a:avLst>
          </a:prstGeom>
          <a:solidFill>
            <a:srgbClr val="E8A100"/>
          </a:solidFill>
          <a:ln/>
        </p:spPr>
      </p:sp>
      <p:sp>
        <p:nvSpPr>
          <p:cNvPr id="13" name="Text 11"/>
          <p:cNvSpPr/>
          <p:nvPr/>
        </p:nvSpPr>
        <p:spPr>
          <a:xfrm>
            <a:off x="910196" y="2036452"/>
            <a:ext cx="728663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00" b="1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ResNet34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30983" y="2015058"/>
            <a:ext cx="776287" cy="2619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52"/>
              </a:lnSpc>
              <a:buNone/>
            </a:pPr>
            <a:r>
              <a:rPr lang="en-US" sz="1300" b="1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84.62%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05857" y="2015058"/>
            <a:ext cx="776287" cy="2619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52"/>
              </a:lnSpc>
              <a:buNone/>
            </a:pPr>
            <a:r>
              <a:rPr lang="en-US" sz="1300" b="1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21.3M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5765" y="2358405"/>
            <a:ext cx="3371850" cy="419100"/>
          </a:xfrm>
          <a:prstGeom prst="rect">
            <a:avLst/>
          </a:prstGeom>
          <a:ln/>
        </p:spPr>
      </p:sp>
      <p:sp>
        <p:nvSpPr>
          <p:cNvPr id="17" name="Shape 15"/>
          <p:cNvSpPr/>
          <p:nvPr/>
        </p:nvSpPr>
        <p:spPr>
          <a:xfrm>
            <a:off x="781162" y="2501280"/>
            <a:ext cx="38100" cy="128588"/>
          </a:xfrm>
          <a:prstGeom prst="roundRect">
            <a:avLst>
              <a:gd name="adj" fmla="val 288000"/>
            </a:avLst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908782" y="2455999"/>
            <a:ext cx="685800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ResNet18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30983" y="2434605"/>
            <a:ext cx="776287" cy="2619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52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69.23%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105857" y="2434605"/>
            <a:ext cx="776287" cy="2619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52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11.2M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81162" y="2920826"/>
            <a:ext cx="38100" cy="128588"/>
          </a:xfrm>
          <a:prstGeom prst="roundRect">
            <a:avLst>
              <a:gd name="adj" fmla="val 288000"/>
            </a:avLst>
          </a:prstGeom>
          <a:solidFill>
            <a:srgbClr val="94A3B8"/>
          </a:solidFill>
          <a:ln/>
        </p:spPr>
      </p:sp>
      <p:sp>
        <p:nvSpPr>
          <p:cNvPr id="22" name="Text 20"/>
          <p:cNvSpPr/>
          <p:nvPr/>
        </p:nvSpPr>
        <p:spPr>
          <a:xfrm>
            <a:off x="909005" y="2875545"/>
            <a:ext cx="962025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MobileNetV3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30983" y="2854151"/>
            <a:ext cx="776287" cy="2619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52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25.64%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105857" y="2854151"/>
            <a:ext cx="776287" cy="2619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52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1.5M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1003" y="3300115"/>
            <a:ext cx="3381375" cy="547687"/>
          </a:xfrm>
          <a:prstGeom prst="roundRect">
            <a:avLst>
              <a:gd name="adj" fmla="val 16725"/>
            </a:avLst>
          </a:prstGeom>
          <a:solidFill>
            <a:srgbClr val="E8A100">
              <a:alpha val="8000"/>
            </a:srgbClr>
          </a:solidFill>
          <a:ln w="4763">
            <a:solidFill>
              <a:srgbClr val="E8A100">
                <a:alpha val="2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ResNet34 показал лучший результат по Accuracy среди протестированных моделей.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742154" y="1120929"/>
            <a:ext cx="1581150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4"/>
              </a:lnSpc>
              <a:spcAft>
                <a:spcPts val="607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МОДЕЛЕЙ</a:t>
            </a:r>
            <a:endParaRPr lang="en-US" sz="900" dirty="0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7159" y="1425401"/>
            <a:ext cx="4653886" cy="2014537"/>
          </a:xfrm>
          <a:prstGeom prst="rect">
            <a:avLst/>
          </a:prstGeom>
        </p:spPr>
      </p:pic>
      <p:pic>
        <p:nvPicPr>
          <p:cNvPr id="2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5765" y="1425401"/>
            <a:ext cx="3371850" cy="514350"/>
          </a:xfrm>
          <a:prstGeom prst="rect">
            <a:avLst/>
          </a:prstGeom>
        </p:spPr>
      </p:pic>
      <p:pic>
        <p:nvPicPr>
          <p:cNvPr id="2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5765" y="1938858"/>
            <a:ext cx="3371850" cy="419100"/>
          </a:xfrm>
          <a:prstGeom prst="rect">
            <a:avLst/>
          </a:prstGeom>
        </p:spPr>
      </p:pic>
      <p:pic>
        <p:nvPicPr>
          <p:cNvPr id="3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5765" y="2358405"/>
            <a:ext cx="3371850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707606" y="888467"/>
            <a:ext cx="1728788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spcAft>
                <a:spcPts val="607"/>
              </a:spcAft>
              <a:buNone/>
            </a:pPr>
            <a:r>
              <a:rPr lang="en-US" sz="900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ФИНАЛЬНАЯ МОДЕЛЬ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417094" y="1142293"/>
            <a:ext cx="2309813" cy="481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spcAft>
                <a:spcPts val="607"/>
              </a:spcAft>
              <a:buNone/>
            </a:pPr>
            <a:r>
              <a:rPr lang="en-US" sz="3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ResNet34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298156" y="1700473"/>
            <a:ext cx="547687" cy="14288"/>
          </a:xfrm>
          <a:prstGeom prst="rect">
            <a:avLst/>
          </a:prstGeom>
          <a:solidFill>
            <a:srgbClr val="E8A100"/>
          </a:solidFill>
          <a:ln/>
        </p:spPr>
      </p:sp>
      <p:sp>
        <p:nvSpPr>
          <p:cNvPr id="6" name="Shape 4"/>
          <p:cNvSpPr/>
          <p:nvPr/>
        </p:nvSpPr>
        <p:spPr>
          <a:xfrm>
            <a:off x="640370" y="1920255"/>
            <a:ext cx="2505075" cy="1138237"/>
          </a:xfrm>
          <a:prstGeom prst="roundRect">
            <a:avLst>
              <a:gd name="adj" fmla="val 5163"/>
            </a:avLst>
          </a:prstGeom>
          <a:solidFill>
            <a:srgbClr val="1A2C3D"/>
          </a:solidFill>
          <a:ln w="9525">
            <a:solidFill>
              <a:srgbClr val="E8A100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3251" y="2085268"/>
            <a:ext cx="2119312" cy="5476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4300" b="1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84.6%</a:t>
            </a:r>
            <a:endParaRPr lang="en-US" sz="4300" dirty="0"/>
          </a:p>
        </p:txBody>
      </p:sp>
      <p:sp>
        <p:nvSpPr>
          <p:cNvPr id="8" name="Text 6"/>
          <p:cNvSpPr/>
          <p:nvPr/>
        </p:nvSpPr>
        <p:spPr>
          <a:xfrm>
            <a:off x="833251" y="2674702"/>
            <a:ext cx="2119312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28"/>
              </a:lnSpc>
              <a:spcBef>
                <a:spcPts val="324"/>
              </a:spcBef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28950" y="1920255"/>
            <a:ext cx="2495550" cy="1138237"/>
          </a:xfrm>
          <a:prstGeom prst="roundRect">
            <a:avLst>
              <a:gd name="adj" fmla="val 5163"/>
            </a:avLst>
          </a:prstGeom>
          <a:solidFill>
            <a:srgbClr val="1A2C3D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17069" y="2080506"/>
            <a:ext cx="2119312" cy="5476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4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86.8%</a:t>
            </a:r>
            <a:endParaRPr lang="en-US" sz="4300" dirty="0"/>
          </a:p>
        </p:txBody>
      </p:sp>
      <p:sp>
        <p:nvSpPr>
          <p:cNvPr id="11" name="Text 9"/>
          <p:cNvSpPr/>
          <p:nvPr/>
        </p:nvSpPr>
        <p:spPr>
          <a:xfrm>
            <a:off x="3517069" y="2669939"/>
            <a:ext cx="2119312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28"/>
              </a:lnSpc>
              <a:spcBef>
                <a:spcPts val="324"/>
              </a:spcBef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Val Accuracy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08005" y="1920255"/>
            <a:ext cx="2495550" cy="1138237"/>
          </a:xfrm>
          <a:prstGeom prst="roundRect">
            <a:avLst>
              <a:gd name="adj" fmla="val 5163"/>
            </a:avLst>
          </a:prstGeom>
          <a:solidFill>
            <a:srgbClr val="1A2C3D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96124" y="2080506"/>
            <a:ext cx="2119312" cy="5476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43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21M</a:t>
            </a:r>
            <a:endParaRPr lang="en-US" sz="4300" dirty="0"/>
          </a:p>
        </p:txBody>
      </p:sp>
      <p:sp>
        <p:nvSpPr>
          <p:cNvPr id="14" name="Text 12"/>
          <p:cNvSpPr/>
          <p:nvPr/>
        </p:nvSpPr>
        <p:spPr>
          <a:xfrm>
            <a:off x="6196124" y="2669939"/>
            <a:ext cx="2119312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28"/>
              </a:lnSpc>
              <a:spcBef>
                <a:spcPts val="324"/>
              </a:spcBef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параметров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556" y="3262685"/>
            <a:ext cx="7862887" cy="357188"/>
          </a:xfrm>
          <a:prstGeom prst="roundRect">
            <a:avLst>
              <a:gd name="adj" fmla="val 13107"/>
            </a:avLst>
          </a:prstGeom>
          <a:solidFill>
            <a:srgbClr val="1A2C3D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6852" y="3365041"/>
            <a:ext cx="38100" cy="152400"/>
          </a:xfrm>
          <a:prstGeom prst="roundRect">
            <a:avLst>
              <a:gd name="adj" fmla="val 288000"/>
            </a:avLst>
          </a:prstGeom>
          <a:solidFill>
            <a:srgbClr val="E8A100"/>
          </a:solidFill>
          <a:ln/>
        </p:spPr>
      </p:sp>
      <p:sp>
        <p:nvSpPr>
          <p:cNvPr id="17" name="Text 15"/>
          <p:cNvSpPr/>
          <p:nvPr/>
        </p:nvSpPr>
        <p:spPr>
          <a:xfrm>
            <a:off x="1000237" y="3346028"/>
            <a:ext cx="473392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Выбрана как финальная модель по результатам сравнения на этапе 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3" name="Text 1"/>
          <p:cNvSpPr/>
          <p:nvPr/>
        </p:nvSpPr>
        <p:spPr>
          <a:xfrm>
            <a:off x="640035" y="1030970"/>
            <a:ext cx="4114800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spcAft>
                <a:spcPts val="607"/>
              </a:spcAft>
              <a:buNone/>
            </a:pPr>
            <a:r>
              <a:rPr lang="en-US" sz="9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ДЕМОНСТРАЦИЯ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35" y="1285429"/>
            <a:ext cx="4114800" cy="723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1"/>
              </a:lnSpc>
              <a:spcAft>
                <a:spcPts val="810"/>
              </a:spcAft>
              <a:buNone/>
            </a:pPr>
            <a:r>
              <a:rPr lang="en-US" sz="2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Финальный ноутбук в действии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35" y="2112876"/>
            <a:ext cx="457200" cy="14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640035" y="2281758"/>
            <a:ext cx="4114800" cy="361950"/>
          </a:xfrm>
          <a:prstGeom prst="roundRect">
            <a:avLst>
              <a:gd name="adj" fmla="val 9573"/>
            </a:avLst>
          </a:prstGeom>
          <a:solidFill>
            <a:srgbClr val="1A2C3D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1943" y="2348433"/>
            <a:ext cx="228600" cy="228600"/>
          </a:xfrm>
          <a:prstGeom prst="ellipse">
            <a:avLst/>
          </a:prstGeom>
          <a:solidFill>
            <a:srgbClr val="3B82F6">
              <a:alpha val="20000"/>
            </a:srgbClr>
          </a:solidFill>
          <a:ln w="4763">
            <a:solidFill>
              <a:srgbClr val="3B82F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6758" y="2360340"/>
            <a:ext cx="1819275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Подключение Google Drive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35" y="2720355"/>
            <a:ext cx="4114800" cy="361950"/>
          </a:xfrm>
          <a:prstGeom prst="roundRect">
            <a:avLst>
              <a:gd name="adj" fmla="val 9573"/>
            </a:avLst>
          </a:prstGeom>
          <a:solidFill>
            <a:srgbClr val="1A2C3D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1943" y="2787030"/>
            <a:ext cx="228600" cy="228600"/>
          </a:xfrm>
          <a:prstGeom prst="ellipse">
            <a:avLst/>
          </a:prstGeom>
          <a:solidFill>
            <a:srgbClr val="3B82F6">
              <a:alpha val="20000"/>
            </a:srgbClr>
          </a:solidFill>
          <a:ln w="4763">
            <a:solidFill>
              <a:srgbClr val="3B82F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8618" y="2798936"/>
            <a:ext cx="2714625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Загрузка весов resnet34_best_model.pth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35" y="3158951"/>
            <a:ext cx="4114800" cy="361950"/>
          </a:xfrm>
          <a:prstGeom prst="roundRect">
            <a:avLst>
              <a:gd name="adj" fmla="val 9573"/>
            </a:avLst>
          </a:prstGeom>
          <a:solidFill>
            <a:srgbClr val="1A2C3D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1943" y="3225626"/>
            <a:ext cx="228600" cy="228600"/>
          </a:xfrm>
          <a:prstGeom prst="ellipse">
            <a:avLst/>
          </a:prstGeom>
          <a:solidFill>
            <a:srgbClr val="3B82F6">
              <a:alpha val="20000"/>
            </a:srgbClr>
          </a:solidFill>
          <a:ln w="4763">
            <a:solidFill>
              <a:srgbClr val="3B82F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8544" y="3237533"/>
            <a:ext cx="2943225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Загрузка своего изображения через upload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35" y="3597548"/>
            <a:ext cx="4114800" cy="361950"/>
          </a:xfrm>
          <a:prstGeom prst="roundRect">
            <a:avLst>
              <a:gd name="adj" fmla="val 9573"/>
            </a:avLst>
          </a:prstGeom>
          <a:solidFill>
            <a:srgbClr val="1A2C3D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1943" y="3664223"/>
            <a:ext cx="228600" cy="228600"/>
          </a:xfrm>
          <a:prstGeom prst="ellipse">
            <a:avLst/>
          </a:prstGeom>
          <a:solidFill>
            <a:srgbClr val="3B82F6">
              <a:alpha val="20000"/>
            </a:srgbClr>
          </a:solidFill>
          <a:ln w="4763">
            <a:solidFill>
              <a:srgbClr val="3B82F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8618" y="3676129"/>
            <a:ext cx="2600325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Предсказание класса с уверенностью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212556" y="1133475"/>
            <a:ext cx="3290887" cy="2876550"/>
          </a:xfrm>
          <a:prstGeom prst="roundRect">
            <a:avLst>
              <a:gd name="adj" fmla="val 1010"/>
            </a:avLst>
          </a:prstGeom>
          <a:solidFill>
            <a:srgbClr val="0D1B2A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45844" y="1336849"/>
            <a:ext cx="90488" cy="9048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0" name="Shape 18"/>
          <p:cNvSpPr/>
          <p:nvPr/>
        </p:nvSpPr>
        <p:spPr>
          <a:xfrm>
            <a:off x="5582915" y="1336849"/>
            <a:ext cx="90488" cy="9048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9"/>
          <p:cNvSpPr/>
          <p:nvPr/>
        </p:nvSpPr>
        <p:spPr>
          <a:xfrm>
            <a:off x="5719986" y="1336849"/>
            <a:ext cx="90488" cy="9048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2" name="Text 20"/>
          <p:cNvSpPr/>
          <p:nvPr/>
        </p:nvSpPr>
        <p:spPr>
          <a:xfrm>
            <a:off x="5947321" y="1294023"/>
            <a:ext cx="1966912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stage5_final_inference_colab.ipynb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5919" y="1574043"/>
            <a:ext cx="2824163" cy="2276475"/>
          </a:xfrm>
          <a:prstGeom prst="roundRect">
            <a:avLst>
              <a:gd name="adj" fmla="val 968"/>
            </a:avLst>
          </a:prstGeom>
          <a:solidFill>
            <a:srgbClr val="0F1923"/>
          </a:solidFill>
          <a:ln/>
        </p:spPr>
      </p:sp>
      <p:sp>
        <p:nvSpPr>
          <p:cNvPr id="24" name="Text 22"/>
          <p:cNvSpPr/>
          <p:nvPr/>
        </p:nvSpPr>
        <p:spPr>
          <a:xfrm>
            <a:off x="5581650" y="1677665"/>
            <a:ext cx="25527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spcAft>
                <a:spcPts val="405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Пример вывода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581650" y="1920776"/>
            <a:ext cx="2552700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path: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81650" y="2126754"/>
            <a:ext cx="25527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spcAft>
                <a:spcPts val="607"/>
              </a:spcAft>
              <a:buNone/>
            </a:pPr>
            <a:r>
              <a:rPr lang="en-US" sz="10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img_03_3402618000_00007.jpg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81650" y="2395835"/>
            <a:ext cx="25527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581650" y="2588009"/>
            <a:ext cx="2552700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40"/>
              </a:lnSpc>
              <a:spcAft>
                <a:spcPts val="607"/>
              </a:spcAft>
              <a:buNone/>
            </a:pPr>
            <a:r>
              <a:rPr lang="en-US" sz="2100" b="1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waist_folding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5581650" y="3076352"/>
            <a:ext cx="25527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81650" y="3267112"/>
            <a:ext cx="2552700" cy="481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25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96.99%</a:t>
            </a:r>
            <a:endParaRPr lang="en-US" sz="2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9050" cy="5143500"/>
          </a:xfrm>
          <a:prstGeom prst="rect">
            <a:avLst/>
          </a:prstGeom>
          <a:solidFill>
            <a:srgbClr val="E8A100"/>
          </a:solidFill>
          <a:ln/>
        </p:spPr>
      </p:sp>
      <p:sp>
        <p:nvSpPr>
          <p:cNvPr id="4" name="Text 2"/>
          <p:cNvSpPr/>
          <p:nvPr/>
        </p:nvSpPr>
        <p:spPr>
          <a:xfrm>
            <a:off x="640966" y="643644"/>
            <a:ext cx="429577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spcAft>
                <a:spcPts val="607"/>
              </a:spcAft>
              <a:buNone/>
            </a:pPr>
            <a:r>
              <a:rPr lang="en-US" sz="900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966" y="898513"/>
            <a:ext cx="4295775" cy="3810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10"/>
              </a:lnSpc>
              <a:spcAft>
                <a:spcPts val="810"/>
              </a:spcAft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было сделано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35" y="1383469"/>
            <a:ext cx="457200" cy="14288"/>
          </a:xfrm>
          <a:prstGeom prst="rect">
            <a:avLst/>
          </a:prstGeom>
          <a:solidFill>
            <a:srgbClr val="E8A100"/>
          </a:solidFill>
          <a:ln/>
        </p:spPr>
      </p:sp>
      <p:sp>
        <p:nvSpPr>
          <p:cNvPr id="7" name="Shape 5"/>
          <p:cNvSpPr/>
          <p:nvPr/>
        </p:nvSpPr>
        <p:spPr>
          <a:xfrm>
            <a:off x="640110" y="1568053"/>
            <a:ext cx="109537" cy="109537"/>
          </a:xfrm>
          <a:prstGeom prst="roundRect">
            <a:avLst>
              <a:gd name="adj" fmla="val 34843"/>
            </a:avLst>
          </a:prstGeom>
          <a:solidFill>
            <a:srgbClr val="E8A100"/>
          </a:solidFill>
          <a:ln/>
        </p:spPr>
      </p:sp>
      <p:sp>
        <p:nvSpPr>
          <p:cNvPr id="8" name="Text 6"/>
          <p:cNvSpPr/>
          <p:nvPr/>
        </p:nvSpPr>
        <p:spPr>
          <a:xfrm>
            <a:off x="885825" y="1553468"/>
            <a:ext cx="4052887" cy="4333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14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Собраны и очищены данные: 1814 изображений, 10 классов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110" y="2095798"/>
            <a:ext cx="109537" cy="109537"/>
          </a:xfrm>
          <a:prstGeom prst="roundRect">
            <a:avLst>
              <a:gd name="adj" fmla="val 34843"/>
            </a:avLst>
          </a:prstGeom>
          <a:solidFill>
            <a:srgbClr val="E8A100"/>
          </a:solidFill>
          <a:ln/>
        </p:spPr>
      </p:sp>
      <p:sp>
        <p:nvSpPr>
          <p:cNvPr id="10" name="Text 8"/>
          <p:cNvSpPr/>
          <p:nvPr/>
        </p:nvSpPr>
        <p:spPr>
          <a:xfrm>
            <a:off x="885825" y="2081212"/>
            <a:ext cx="4052887" cy="4333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14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Реализован baseline на ResNet18 (Этап 4): accuracy 85.7%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110" y="2623542"/>
            <a:ext cx="109537" cy="109537"/>
          </a:xfrm>
          <a:prstGeom prst="roundRect">
            <a:avLst>
              <a:gd name="adj" fmla="val 34843"/>
            </a:avLst>
          </a:prstGeom>
          <a:solidFill>
            <a:srgbClr val="E8A100"/>
          </a:solidFill>
          <a:ln/>
        </p:spPr>
      </p:sp>
      <p:sp>
        <p:nvSpPr>
          <p:cNvPr id="12" name="Text 10"/>
          <p:cNvSpPr/>
          <p:nvPr/>
        </p:nvSpPr>
        <p:spPr>
          <a:xfrm>
            <a:off x="885825" y="2608957"/>
            <a:ext cx="4052887" cy="4333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14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Проведены эксперименты с 3 архитектурами (Этап 5)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110" y="3151287"/>
            <a:ext cx="109537" cy="109537"/>
          </a:xfrm>
          <a:prstGeom prst="roundRect">
            <a:avLst>
              <a:gd name="adj" fmla="val 34843"/>
            </a:avLst>
          </a:prstGeom>
          <a:solidFill>
            <a:srgbClr val="E8A100"/>
          </a:solidFill>
          <a:ln/>
        </p:spPr>
      </p:sp>
      <p:sp>
        <p:nvSpPr>
          <p:cNvPr id="14" name="Text 12"/>
          <p:cNvSpPr/>
          <p:nvPr/>
        </p:nvSpPr>
        <p:spPr>
          <a:xfrm>
            <a:off x="886458" y="3135064"/>
            <a:ext cx="3514725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14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Финальная модель ResNet34: accuracy 84.6%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110" y="3663597"/>
            <a:ext cx="109537" cy="109537"/>
          </a:xfrm>
          <a:prstGeom prst="roundRect">
            <a:avLst>
              <a:gd name="adj" fmla="val 34843"/>
            </a:avLst>
          </a:prstGeom>
          <a:solidFill>
            <a:srgbClr val="E8A100"/>
          </a:solidFill>
          <a:ln/>
        </p:spPr>
      </p:sp>
      <p:sp>
        <p:nvSpPr>
          <p:cNvPr id="16" name="Text 14"/>
          <p:cNvSpPr/>
          <p:nvPr/>
        </p:nvSpPr>
        <p:spPr>
          <a:xfrm>
            <a:off x="886458" y="3600450"/>
            <a:ext cx="4052887" cy="4333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14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 финальный ноутбук для инференса с загрузкой своих изображений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35" y="4192130"/>
            <a:ext cx="4295775" cy="519112"/>
          </a:xfrm>
          <a:prstGeom prst="roundRect">
            <a:avLst>
              <a:gd name="adj" fmla="val 15514"/>
            </a:avLst>
          </a:prstGeom>
          <a:solidFill>
            <a:srgbClr val="3B82F6">
              <a:alpha val="7000"/>
            </a:srgbClr>
          </a:solidFill>
          <a:ln w="4763">
            <a:solidFill>
              <a:srgbClr val="3B82F6">
                <a:alpha val="2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Сложнее распознаются редкие классы и визуально похожие дефекты.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94461" y="1156953"/>
            <a:ext cx="3109913" cy="1757363"/>
          </a:xfrm>
          <a:prstGeom prst="roundRect">
            <a:avLst>
              <a:gd name="adj" fmla="val 2166"/>
            </a:avLst>
          </a:prstGeom>
          <a:solidFill>
            <a:srgbClr val="1A2C3D"/>
          </a:solidFill>
          <a:ln w="4763">
            <a:solidFill>
              <a:srgbClr val="E8A100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82580" y="1291196"/>
            <a:ext cx="2733675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spcAft>
                <a:spcPts val="607"/>
              </a:spcAft>
              <a:buNone/>
            </a:pPr>
            <a:r>
              <a:rPr lang="en-US" sz="1100" b="1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Ссылки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82580" y="1588554"/>
            <a:ext cx="273367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Папка этапа 5 (Drive)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82469" y="1780059"/>
            <a:ext cx="1862137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u="sng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drive.google.com/drive/...1n4LAA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582580" y="2006687"/>
            <a:ext cx="273367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Ноутбук с экспериментами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81724" y="2198191"/>
            <a:ext cx="2057400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u="sng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colab.research.google.com/...1a4tDS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582580" y="2424819"/>
            <a:ext cx="273367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Финальный ноутбук (inference)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583287" y="2616324"/>
            <a:ext cx="2138363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u="sng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colab.research.google.com/...1M7UG4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394461" y="2990590"/>
            <a:ext cx="3109913" cy="995362"/>
          </a:xfrm>
          <a:prstGeom prst="roundRect">
            <a:avLst>
              <a:gd name="adj" fmla="val 6751"/>
            </a:avLst>
          </a:prstGeom>
          <a:solidFill>
            <a:srgbClr val="1A2C3D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82580" y="3098304"/>
            <a:ext cx="2733675" cy="342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Aft>
                <a:spcPts val="203"/>
              </a:spcAft>
              <a:buNone/>
            </a:pPr>
            <a:r>
              <a:rPr lang="en-US" sz="1800" b="1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№9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582580" y="3467770"/>
            <a:ext cx="2733675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Классификация дефектов на поверхности стали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Arial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Arial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rial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Arial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Arial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618</Words>
  <Application>Microsoft Office PowerPoint</Application>
  <PresentationFormat>Экран (16:9)</PresentationFormat>
  <Paragraphs>169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family k</cp:lastModifiedBy>
  <cp:revision>5</cp:revision>
  <dcterms:created xsi:type="dcterms:W3CDTF">2026-04-05T15:49:17Z</dcterms:created>
  <dcterms:modified xsi:type="dcterms:W3CDTF">2026-04-16T07:55:44Z</dcterms:modified>
</cp:coreProperties>
</file>